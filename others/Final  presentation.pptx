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7" r:id="rId2"/>
    <p:sldId id="270"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entury Gothic" panose="020B0502020202020204" pitchFamily="34" charset="0"/>
      <p:regular r:id="rId15"/>
      <p:bold r:id="rId16"/>
      <p:italic r:id="rId17"/>
      <p:boldItalic r:id="rId18"/>
    </p:embeddedFont>
    <p:embeddedFont>
      <p:font typeface="Coco Gothic" panose="020B0604020202020204" charset="0"/>
      <p:regular r:id="rId19"/>
    </p:embeddedFont>
    <p:embeddedFont>
      <p:font typeface="Coco Gothic Bold" panose="020B0604020202020204" charset="0"/>
      <p:regular r:id="rId20"/>
    </p:embeddedFont>
    <p:embeddedFont>
      <p:font typeface="Coco Gothic Italics" panose="020B0604020202020204" charset="0"/>
      <p:regular r:id="rId21"/>
    </p:embeddedFont>
    <p:embeddedFont>
      <p:font typeface="Sukar" panose="020B0604020202020204" charset="0"/>
      <p:regular r:id="rId22"/>
    </p:embeddedFont>
    <p:embeddedFont>
      <p:font typeface="Sukar Bold" panose="020B0604020202020204" charset="0"/>
      <p:regular r:id="rId23"/>
    </p:embeddedFont>
    <p:embeddedFont>
      <p:font typeface="Wingdings 3" panose="05040102010807070707" pitchFamily="18" charset="2"/>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8288000" cy="10287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732433" y="3149600"/>
            <a:ext cx="13238487" cy="4016472"/>
          </a:xfrm>
        </p:spPr>
        <p:txBody>
          <a:bodyPr anchor="b"/>
          <a:lstStyle>
            <a:lvl1pPr>
              <a:defRPr sz="8100"/>
            </a:lvl1pPr>
          </a:lstStyle>
          <a:p>
            <a:r>
              <a:rPr lang="en-US"/>
              <a:t>Click to edit Master title style</a:t>
            </a:r>
            <a:endParaRPr lang="en-US" dirty="0"/>
          </a:p>
        </p:txBody>
      </p:sp>
      <p:sp>
        <p:nvSpPr>
          <p:cNvPr id="3" name="Subtitle 2"/>
          <p:cNvSpPr>
            <a:spLocks noGrp="1"/>
          </p:cNvSpPr>
          <p:nvPr>
            <p:ph type="subTitle" idx="1"/>
          </p:nvPr>
        </p:nvSpPr>
        <p:spPr bwMode="gray">
          <a:xfrm>
            <a:off x="1732433" y="7166070"/>
            <a:ext cx="13238487" cy="1292130"/>
          </a:xfrm>
        </p:spPr>
        <p:txBody>
          <a:bodyPr anchor="t"/>
          <a:lstStyle>
            <a:lvl1pPr marL="0" indent="0" algn="l">
              <a:buNone/>
              <a:defRPr cap="all">
                <a:solidFill>
                  <a:schemeClr val="accent1">
                    <a:lumMod val="60000"/>
                    <a:lumOff val="4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5238477" y="2688337"/>
            <a:ext cx="1485899" cy="457199"/>
          </a:xfrm>
        </p:spPr>
        <p:txBody>
          <a:bodyPr anchor="t"/>
          <a:lstStyle>
            <a:lvl1pPr algn="l">
              <a:defRPr b="0" i="0">
                <a:solidFill>
                  <a:schemeClr val="bg1">
                    <a:alpha val="60000"/>
                  </a:schemeClr>
                </a:solidFill>
              </a:defRPr>
            </a:lvl1p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bwMode="gray">
          <a:xfrm rot="5400000">
            <a:off x="13427964" y="4841749"/>
            <a:ext cx="5789693" cy="457202"/>
          </a:xfrm>
        </p:spPr>
        <p:txBody>
          <a:bodyPr/>
          <a:lstStyle>
            <a:lvl1pPr>
              <a:defRPr b="0" i="0">
                <a:solidFill>
                  <a:schemeClr val="bg1">
                    <a:alpha val="60000"/>
                  </a:schemeClr>
                </a:solidFill>
              </a:defRPr>
            </a:lvl1pPr>
          </a:lstStyle>
          <a:p>
            <a:endParaRPr lang="en-US"/>
          </a:p>
        </p:txBody>
      </p:sp>
      <p:sp>
        <p:nvSpPr>
          <p:cNvPr id="11" name="Rectangle 10"/>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5528811" y="443594"/>
            <a:ext cx="1257299" cy="1151531"/>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4423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732432" y="3905250"/>
            <a:ext cx="13238489" cy="512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96746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2" y="4016468"/>
            <a:ext cx="6526538" cy="3425736"/>
          </a:xfrm>
        </p:spPr>
        <p:txBody>
          <a:bodyPr anchor="ctr"/>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343339" y="4016466"/>
            <a:ext cx="5636318" cy="3425736"/>
          </a:xfrm>
        </p:spPr>
        <p:txBody>
          <a:bodyPr anchor="ctr"/>
          <a:lstStyle>
            <a:lvl1pPr marL="0" indent="0" algn="l">
              <a:buNone/>
              <a:defRPr sz="3000" cap="all">
                <a:solidFill>
                  <a:schemeClr val="accent1">
                    <a:lumMod val="60000"/>
                    <a:lumOff val="4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81009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32431" y="3905251"/>
            <a:ext cx="7237737" cy="512445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13069" y="3905250"/>
            <a:ext cx="7237739" cy="5124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56266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32432" y="3905250"/>
            <a:ext cx="7237736"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32431" y="4769644"/>
            <a:ext cx="7237737" cy="426005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13069" y="3905250"/>
            <a:ext cx="7237739"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13069" y="4769644"/>
            <a:ext cx="7237739" cy="4260059"/>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4770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732432" y="1460502"/>
            <a:ext cx="13142120" cy="1060446"/>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05685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182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3" y="1943100"/>
            <a:ext cx="4189737" cy="2400300"/>
          </a:xfrm>
        </p:spPr>
        <p:txBody>
          <a:bodyPr anchor="b"/>
          <a:lstStyle>
            <a:lvl1pPr algn="l">
              <a:defRPr sz="3600" b="0"/>
            </a:lvl1pPr>
          </a:lstStyle>
          <a:p>
            <a:r>
              <a:rPr lang="en-US"/>
              <a:t>Click to edit Master title style</a:t>
            </a:r>
            <a:endParaRPr lang="en-US" dirty="0"/>
          </a:p>
        </p:txBody>
      </p:sp>
      <p:sp>
        <p:nvSpPr>
          <p:cNvPr id="3" name="Content Placeholder 2"/>
          <p:cNvSpPr>
            <a:spLocks noGrp="1"/>
          </p:cNvSpPr>
          <p:nvPr>
            <p:ph idx="1"/>
          </p:nvPr>
        </p:nvSpPr>
        <p:spPr>
          <a:xfrm>
            <a:off x="8671719" y="2171700"/>
            <a:ext cx="7785099" cy="6858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732431" y="4693921"/>
            <a:ext cx="4189737" cy="4343399"/>
          </a:xfrm>
        </p:spPr>
        <p:txBody>
          <a:bodyPr/>
          <a:lstStyle>
            <a:lvl1pPr marL="0" indent="0">
              <a:buNone/>
              <a:defRPr sz="21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9003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3" y="2540000"/>
            <a:ext cx="5797701" cy="2603501"/>
          </a:xfrm>
        </p:spPr>
        <p:txBody>
          <a:bodyPr anchor="b">
            <a:normAutofit/>
          </a:bodyPr>
          <a:lstStyle>
            <a:lvl1pPr algn="l">
              <a:defRPr sz="5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821806" y="1714500"/>
            <a:ext cx="4840790" cy="6858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732431" y="5486400"/>
            <a:ext cx="5788818" cy="2057400"/>
          </a:xfrm>
        </p:spPr>
        <p:txBody>
          <a:bodyPr>
            <a:normAutofit/>
          </a:bodyPr>
          <a:lstStyle>
            <a:lvl1pPr marL="0" indent="0">
              <a:buNone/>
              <a:defRPr sz="21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1598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2" y="7454891"/>
            <a:ext cx="13238489"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32432" y="1028700"/>
            <a:ext cx="13238489" cy="5143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32431" y="8304998"/>
            <a:ext cx="13238487" cy="740568"/>
          </a:xfrm>
        </p:spPr>
        <p:txBody>
          <a:bodyPr>
            <a:normAutofit/>
          </a:bodyPr>
          <a:lstStyle>
            <a:lvl1pPr marL="0" indent="0">
              <a:buNone/>
              <a:defRPr sz="18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46899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8288000" cy="10287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23197" y="1595126"/>
            <a:ext cx="13247724" cy="2059479"/>
          </a:xfrm>
        </p:spPr>
        <p:txBody>
          <a:bodyPr/>
          <a:lstStyle>
            <a:lvl1pPr>
              <a:defRPr sz="6000"/>
            </a:lvl1pPr>
          </a:lstStyle>
          <a:p>
            <a:r>
              <a:rPr lang="en-US"/>
              <a:t>Click to edit Master title style</a:t>
            </a:r>
            <a:endParaRPr lang="en-US" dirty="0"/>
          </a:p>
        </p:txBody>
      </p:sp>
      <p:sp>
        <p:nvSpPr>
          <p:cNvPr id="8" name="Text Placeholder 3"/>
          <p:cNvSpPr>
            <a:spLocks noGrp="1"/>
          </p:cNvSpPr>
          <p:nvPr>
            <p:ph type="body" sz="half" idx="2"/>
          </p:nvPr>
        </p:nvSpPr>
        <p:spPr>
          <a:xfrm>
            <a:off x="1732432" y="5314950"/>
            <a:ext cx="13238489" cy="371475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12761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8288000" cy="10287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1322349" y="911004"/>
            <a:ext cx="1202868" cy="2308324"/>
          </a:xfrm>
          <a:prstGeom prst="rect">
            <a:avLst/>
          </a:prstGeom>
          <a:noFill/>
        </p:spPr>
        <p:txBody>
          <a:bodyPr wrap="square" rtlCol="0">
            <a:spAutoFit/>
          </a:bodyPr>
          <a:lstStyle/>
          <a:p>
            <a:pPr algn="r"/>
            <a:r>
              <a:rPr lang="en-US" sz="14400" b="0" i="0" dirty="0">
                <a:solidFill>
                  <a:schemeClr val="accent1">
                    <a:lumMod val="60000"/>
                    <a:lumOff val="40000"/>
                  </a:schemeClr>
                </a:solidFill>
                <a:latin typeface="Arial"/>
                <a:cs typeface="Arial"/>
              </a:rPr>
              <a:t>“</a:t>
            </a:r>
          </a:p>
        </p:txBody>
      </p:sp>
      <p:sp>
        <p:nvSpPr>
          <p:cNvPr id="13" name="TextBox 12"/>
          <p:cNvSpPr txBox="1"/>
          <p:nvPr/>
        </p:nvSpPr>
        <p:spPr bwMode="gray">
          <a:xfrm>
            <a:off x="14826688" y="3920681"/>
            <a:ext cx="979145" cy="2308324"/>
          </a:xfrm>
          <a:prstGeom prst="rect">
            <a:avLst/>
          </a:prstGeom>
          <a:noFill/>
        </p:spPr>
        <p:txBody>
          <a:bodyPr wrap="square" rtlCol="0">
            <a:spAutoFit/>
          </a:bodyPr>
          <a:lstStyle/>
          <a:p>
            <a:pPr algn="r"/>
            <a:r>
              <a:rPr lang="en-US" sz="144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2372817" y="1473201"/>
            <a:ext cx="12680859" cy="4044948"/>
          </a:xfrm>
        </p:spPr>
        <p:txBody>
          <a:bodyPr/>
          <a:lstStyle>
            <a:lvl1pPr>
              <a:defRPr sz="6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2918918" y="5518149"/>
            <a:ext cx="11596829" cy="513261"/>
          </a:xfrm>
        </p:spPr>
        <p:txBody>
          <a:bodyPr anchor="t">
            <a:normAutofit/>
          </a:bodyPr>
          <a:lstStyle>
            <a:lvl1pPr marL="0" indent="0">
              <a:buNone/>
              <a:defRPr lang="en-US" sz="2100" b="0" i="0" kern="1200" cap="small" dirty="0">
                <a:solidFill>
                  <a:schemeClr val="accent1">
                    <a:lumMod val="60000"/>
                    <a:lumOff val="40000"/>
                  </a:schemeClr>
                </a:solidFill>
                <a:latin typeface="+mn-lt"/>
                <a:ea typeface="+mn-ea"/>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0" name="Text Placeholder 3"/>
          <p:cNvSpPr>
            <a:spLocks noGrp="1"/>
          </p:cNvSpPr>
          <p:nvPr>
            <p:ph type="body" sz="half" idx="2"/>
          </p:nvPr>
        </p:nvSpPr>
        <p:spPr>
          <a:xfrm>
            <a:off x="1732432" y="7543799"/>
            <a:ext cx="13867346" cy="1496786"/>
          </a:xfrm>
        </p:spPr>
        <p:txBody>
          <a:bodyPr anchor="ct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130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1" y="3556001"/>
            <a:ext cx="13238490" cy="2733771"/>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732432" y="7537451"/>
            <a:ext cx="13238489" cy="1290600"/>
          </a:xfrm>
        </p:spPr>
        <p:txBody>
          <a:bodyPr anchor="t"/>
          <a:lstStyle>
            <a:lvl1pPr marL="0" indent="0" algn="l">
              <a:buNone/>
              <a:defRPr sz="3000" cap="none">
                <a:solidFill>
                  <a:schemeClr val="accent1">
                    <a:lumMod val="60000"/>
                    <a:lumOff val="4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5020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32431" y="3905253"/>
            <a:ext cx="4712817"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6" name="Text Placeholder 3"/>
          <p:cNvSpPr>
            <a:spLocks noGrp="1"/>
          </p:cNvSpPr>
          <p:nvPr>
            <p:ph type="body" sz="half" idx="15"/>
          </p:nvPr>
        </p:nvSpPr>
        <p:spPr>
          <a:xfrm>
            <a:off x="1732430" y="4769647"/>
            <a:ext cx="4712819"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6769082" y="3905250"/>
            <a:ext cx="4720514"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Text Placeholder 3"/>
          <p:cNvSpPr>
            <a:spLocks noGrp="1"/>
          </p:cNvSpPr>
          <p:nvPr>
            <p:ph type="body" sz="half" idx="16"/>
          </p:nvPr>
        </p:nvSpPr>
        <p:spPr>
          <a:xfrm>
            <a:off x="6769082" y="4769645"/>
            <a:ext cx="4720514"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1832203" y="3905252"/>
            <a:ext cx="4718595"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Text Placeholder 3"/>
          <p:cNvSpPr>
            <a:spLocks noGrp="1"/>
          </p:cNvSpPr>
          <p:nvPr>
            <p:ph type="body" sz="half" idx="17"/>
          </p:nvPr>
        </p:nvSpPr>
        <p:spPr>
          <a:xfrm>
            <a:off x="11832494" y="4769643"/>
            <a:ext cx="4718304"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17" name="Straight Connector 16"/>
          <p:cNvCxnSpPr/>
          <p:nvPr/>
        </p:nvCxnSpPr>
        <p:spPr>
          <a:xfrm>
            <a:off x="6605956"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1658602"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1620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32431" y="6799266"/>
            <a:ext cx="4575657"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Picture Placeholder 2"/>
          <p:cNvSpPr>
            <a:spLocks noGrp="1" noChangeAspect="1"/>
          </p:cNvSpPr>
          <p:nvPr>
            <p:ph type="pic" idx="15"/>
          </p:nvPr>
        </p:nvSpPr>
        <p:spPr>
          <a:xfrm>
            <a:off x="2001830" y="3905250"/>
            <a:ext cx="4036863"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2" name="Text Placeholder 3"/>
          <p:cNvSpPr>
            <a:spLocks noGrp="1"/>
          </p:cNvSpPr>
          <p:nvPr>
            <p:ph type="body" sz="half" idx="18"/>
          </p:nvPr>
        </p:nvSpPr>
        <p:spPr>
          <a:xfrm>
            <a:off x="1732431" y="7663659"/>
            <a:ext cx="4575657"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6853298" y="6799267"/>
            <a:ext cx="4575657" cy="864395"/>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1" name="Picture Placeholder 2"/>
          <p:cNvSpPr>
            <a:spLocks noGrp="1" noChangeAspect="1"/>
          </p:cNvSpPr>
          <p:nvPr>
            <p:ph type="pic" idx="21"/>
          </p:nvPr>
        </p:nvSpPr>
        <p:spPr>
          <a:xfrm>
            <a:off x="7122694" y="3905250"/>
            <a:ext cx="4036865"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3" name="Text Placeholder 3"/>
          <p:cNvSpPr>
            <a:spLocks noGrp="1"/>
          </p:cNvSpPr>
          <p:nvPr>
            <p:ph type="body" sz="half" idx="19"/>
          </p:nvPr>
        </p:nvSpPr>
        <p:spPr>
          <a:xfrm>
            <a:off x="6855258" y="7663658"/>
            <a:ext cx="4575657"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1974163" y="6799268"/>
            <a:ext cx="4576643"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2" name="Picture Placeholder 2"/>
          <p:cNvSpPr>
            <a:spLocks noGrp="1" noChangeAspect="1"/>
          </p:cNvSpPr>
          <p:nvPr>
            <p:ph type="pic" idx="22"/>
          </p:nvPr>
        </p:nvSpPr>
        <p:spPr>
          <a:xfrm>
            <a:off x="12244547" y="3905250"/>
            <a:ext cx="4036863"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4" name="Text Placeholder 3"/>
          <p:cNvSpPr>
            <a:spLocks noGrp="1"/>
          </p:cNvSpPr>
          <p:nvPr>
            <p:ph type="body" sz="half" idx="20"/>
          </p:nvPr>
        </p:nvSpPr>
        <p:spPr>
          <a:xfrm>
            <a:off x="11974163" y="7663656"/>
            <a:ext cx="4576644"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43" name="Straight Connector 42"/>
          <p:cNvCxnSpPr/>
          <p:nvPr/>
        </p:nvCxnSpPr>
        <p:spPr>
          <a:xfrm>
            <a:off x="6608747"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11696703"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8" name="Footer Placeholder 7"/>
          <p:cNvSpPr>
            <a:spLocks noGrp="1"/>
          </p:cNvSpPr>
          <p:nvPr>
            <p:ph type="ftr" sz="quarter" idx="11"/>
          </p:nvPr>
        </p:nvSpPr>
        <p:spPr>
          <a:xfrm>
            <a:off x="841667" y="9587758"/>
            <a:ext cx="5466423" cy="457202"/>
          </a:xfrm>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4479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732432" y="3905250"/>
            <a:ext cx="13238489" cy="512445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043159" y="9587758"/>
            <a:ext cx="1485899" cy="457199"/>
          </a:xfrm>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16366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12877853" y="1917701"/>
            <a:ext cx="2114948" cy="712288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732432" y="1917701"/>
            <a:ext cx="9384038" cy="71228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5979657" y="9587758"/>
            <a:ext cx="1488203" cy="457199"/>
          </a:xfrm>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9086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8288000" cy="10287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732432" y="1460502"/>
            <a:ext cx="13142120" cy="1060446"/>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732432" y="3905250"/>
            <a:ext cx="13142120" cy="5124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979657" y="9587758"/>
            <a:ext cx="1485899" cy="457199"/>
          </a:xfrm>
          <a:prstGeom prst="rect">
            <a:avLst/>
          </a:prstGeom>
        </p:spPr>
        <p:txBody>
          <a:bodyPr vert="horz" lIns="91440" tIns="45720" rIns="91440" bIns="45720" rtlCol="0" anchor="ctr"/>
          <a:lstStyle>
            <a:lvl1pPr algn="r">
              <a:defRPr sz="1500" b="1" i="0">
                <a:solidFill>
                  <a:schemeClr val="accent1"/>
                </a:solidFill>
              </a:defRPr>
            </a:lvl1pPr>
          </a:lstStyle>
          <a:p>
            <a:fld id="{1D8BD707-D9CF-40AE-B4C6-C98DA3205C09}" type="datetimeFigureOut">
              <a:rPr lang="en-US" smtClean="0"/>
              <a:pPr/>
              <a:t>12/13/2025</a:t>
            </a:fld>
            <a:endParaRPr lang="en-US"/>
          </a:p>
        </p:txBody>
      </p:sp>
      <p:sp>
        <p:nvSpPr>
          <p:cNvPr id="5" name="Footer Placeholder 4"/>
          <p:cNvSpPr>
            <a:spLocks noGrp="1"/>
          </p:cNvSpPr>
          <p:nvPr>
            <p:ph type="ftr" sz="quarter" idx="3"/>
          </p:nvPr>
        </p:nvSpPr>
        <p:spPr>
          <a:xfrm>
            <a:off x="841666" y="9587758"/>
            <a:ext cx="5789693" cy="457202"/>
          </a:xfrm>
          <a:prstGeom prst="rect">
            <a:avLst/>
          </a:prstGeom>
        </p:spPr>
        <p:txBody>
          <a:bodyPr vert="horz" lIns="91440" tIns="45720" rIns="91440" bIns="45720" rtlCol="0" anchor="ctr"/>
          <a:lstStyle>
            <a:lvl1pPr algn="l">
              <a:defRPr sz="1500" b="1" i="0">
                <a:solidFill>
                  <a:schemeClr val="accent1"/>
                </a:solidFill>
              </a:defRPr>
            </a:lvl1pPr>
          </a:lstStyle>
          <a:p>
            <a:endParaRPr lang="en-US"/>
          </a:p>
        </p:txBody>
      </p:sp>
      <p:sp>
        <p:nvSpPr>
          <p:cNvPr id="21" name="Rectangle 20"/>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5528811" y="443594"/>
            <a:ext cx="1257299" cy="1151531"/>
          </a:xfrm>
          <a:prstGeom prst="rect">
            <a:avLst/>
          </a:prstGeom>
        </p:spPr>
        <p:txBody>
          <a:bodyPr vert="horz" lIns="91440" tIns="45720" rIns="91440" bIns="45720" rtlCol="0" anchor="b"/>
          <a:lstStyle>
            <a:lvl1pPr algn="ctr">
              <a:defRPr sz="4200" b="0" i="0">
                <a:solidFill>
                  <a:schemeClr val="bg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227949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858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b="0" i="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b="0" i="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6420952" y="1286526"/>
            <a:ext cx="4702522" cy="641201"/>
          </a:xfrm>
          <a:prstGeom prst="rect">
            <a:avLst/>
          </a:prstGeom>
        </p:spPr>
        <p:txBody>
          <a:bodyPr lIns="0" tIns="0" rIns="0" bIns="0" rtlCol="0" anchor="t">
            <a:spAutoFit/>
          </a:bodyPr>
          <a:lstStyle/>
          <a:p>
            <a:pPr algn="ctr">
              <a:lnSpc>
                <a:spcPts val="5040"/>
              </a:lnSpc>
              <a:spcBef>
                <a:spcPct val="0"/>
              </a:spcBef>
            </a:pPr>
            <a:r>
              <a:rPr lang="en-US" sz="3600" b="1" spc="1119" dirty="0">
                <a:solidFill>
                  <a:srgbClr val="000000"/>
                </a:solidFill>
                <a:latin typeface="Sukar Bold"/>
                <a:ea typeface="Sukar Bold"/>
                <a:cs typeface="Sukar Bold"/>
                <a:sym typeface="Sukar Bold"/>
              </a:rPr>
              <a:t>Group 4</a:t>
            </a:r>
          </a:p>
        </p:txBody>
      </p:sp>
      <p:sp>
        <p:nvSpPr>
          <p:cNvPr id="5" name="TextBox 5"/>
          <p:cNvSpPr txBox="1"/>
          <p:nvPr/>
        </p:nvSpPr>
        <p:spPr>
          <a:xfrm>
            <a:off x="1676400" y="2547063"/>
            <a:ext cx="13510447" cy="1238672"/>
          </a:xfrm>
          <a:prstGeom prst="rect">
            <a:avLst/>
          </a:prstGeom>
        </p:spPr>
        <p:txBody>
          <a:bodyPr wrap="square" lIns="0" tIns="0" rIns="0" bIns="0" rtlCol="0" anchor="t">
            <a:spAutoFit/>
          </a:bodyPr>
          <a:lstStyle/>
          <a:p>
            <a:pPr marL="291792" lvl="1" algn="ctr">
              <a:lnSpc>
                <a:spcPts val="4865"/>
              </a:lnSpc>
            </a:pPr>
            <a:r>
              <a:rPr lang="en-US" sz="4000" spc="100" dirty="0">
                <a:solidFill>
                  <a:srgbClr val="002060"/>
                </a:solidFill>
                <a:latin typeface="Coco Gothic"/>
                <a:ea typeface="Coco Gothic"/>
                <a:cs typeface="Coco Gothic"/>
                <a:sym typeface="Coco Gothic"/>
              </a:rPr>
              <a:t>Puzzle Solver Using Different Algorithms</a:t>
            </a:r>
          </a:p>
          <a:p>
            <a:pPr marL="291792" lvl="1" algn="ctr">
              <a:lnSpc>
                <a:spcPts val="4865"/>
              </a:lnSpc>
            </a:pPr>
            <a:endParaRPr lang="en-US" sz="4000" spc="100" dirty="0">
              <a:solidFill>
                <a:srgbClr val="000000"/>
              </a:solidFill>
              <a:latin typeface="Coco Gothic"/>
              <a:ea typeface="Coco Gothic"/>
              <a:cs typeface="Coco Gothic"/>
              <a:sym typeface="Coco Gothic"/>
            </a:endParaRPr>
          </a:p>
        </p:txBody>
      </p:sp>
      <p:sp>
        <p:nvSpPr>
          <p:cNvPr id="7" name="TextBox 5">
            <a:extLst>
              <a:ext uri="{FF2B5EF4-FFF2-40B4-BE49-F238E27FC236}">
                <a16:creationId xmlns:a16="http://schemas.microsoft.com/office/drawing/2014/main" id="{BB21F8AA-E32D-70C2-8BE5-EBA247624556}"/>
              </a:ext>
            </a:extLst>
          </p:cNvPr>
          <p:cNvSpPr txBox="1"/>
          <p:nvPr/>
        </p:nvSpPr>
        <p:spPr>
          <a:xfrm>
            <a:off x="457200" y="3785735"/>
            <a:ext cx="16630027" cy="5592108"/>
          </a:xfrm>
          <a:prstGeom prst="rect">
            <a:avLst/>
          </a:prstGeom>
        </p:spPr>
        <p:txBody>
          <a:bodyPr lIns="0" tIns="0" rIns="0" bIns="0" rtlCol="0" anchor="t">
            <a:spAutoFit/>
          </a:bodyPr>
          <a:lstStyle/>
          <a:p>
            <a:pPr marL="291792" lvl="1" algn="just">
              <a:lnSpc>
                <a:spcPts val="4865"/>
              </a:lnSpc>
            </a:pPr>
            <a:r>
              <a:rPr lang="en-US" sz="2700" spc="100" dirty="0">
                <a:solidFill>
                  <a:srgbClr val="000000"/>
                </a:solidFill>
                <a:latin typeface="Coco Gothic" panose="020B0604020202020204" charset="0"/>
                <a:ea typeface="Coco Gothic"/>
                <a:cs typeface="Coco Gothic"/>
                <a:sym typeface="Coco Gothic"/>
              </a:rPr>
              <a:t>                                                      Group Members:</a:t>
            </a:r>
          </a:p>
          <a:p>
            <a:pPr marL="291792" lvl="1" algn="just">
              <a:lnSpc>
                <a:spcPts val="4865"/>
              </a:lnSpc>
            </a:pPr>
            <a:endParaRPr lang="en-US" sz="2700" spc="100" dirty="0">
              <a:solidFill>
                <a:srgbClr val="000000"/>
              </a:solidFill>
              <a:latin typeface="Coco Gothic" panose="020B0604020202020204" charset="0"/>
              <a:ea typeface="Coco Gothic"/>
              <a:cs typeface="Coco Gothic"/>
              <a:sym typeface="Coco Gothic"/>
            </a:endParaRPr>
          </a:p>
          <a:p>
            <a:pPr marL="3949392" lvl="8" indent="-457200" algn="just">
              <a:lnSpc>
                <a:spcPts val="4865"/>
              </a:lnSpc>
              <a:buFont typeface="Wingdings" panose="05000000000000000000" pitchFamily="2" charset="2"/>
              <a:buChar char="§"/>
            </a:pPr>
            <a:r>
              <a:rPr lang="en-US" sz="2700" spc="100" dirty="0">
                <a:solidFill>
                  <a:srgbClr val="000000"/>
                </a:solidFill>
                <a:latin typeface="Coco Gothic" panose="020B0604020202020204" charset="0"/>
                <a:ea typeface="Coco Gothic"/>
                <a:cs typeface="Coco Gothic"/>
                <a:sym typeface="Coco Gothic"/>
              </a:rPr>
              <a:t>Habib </a:t>
            </a:r>
            <a:r>
              <a:rPr lang="en-US" sz="2700" spc="100" dirty="0" err="1">
                <a:solidFill>
                  <a:srgbClr val="000000"/>
                </a:solidFill>
                <a:latin typeface="Coco Gothic" panose="020B0604020202020204" charset="0"/>
                <a:ea typeface="Coco Gothic"/>
                <a:cs typeface="Coco Gothic"/>
                <a:sym typeface="Coco Gothic"/>
              </a:rPr>
              <a:t>Foysal</a:t>
            </a:r>
            <a:r>
              <a:rPr lang="en-US" sz="2700" spc="100" dirty="0">
                <a:solidFill>
                  <a:srgbClr val="000000"/>
                </a:solidFill>
                <a:latin typeface="Coco Gothic" panose="020B0604020202020204" charset="0"/>
                <a:ea typeface="Coco Gothic"/>
                <a:cs typeface="Coco Gothic"/>
                <a:sym typeface="Coco Gothic"/>
              </a:rPr>
              <a:t>                             ID: 2122284642</a:t>
            </a:r>
          </a:p>
          <a:p>
            <a:pPr marL="3949392" lvl="8" indent="-457200" algn="just">
              <a:lnSpc>
                <a:spcPts val="4865"/>
              </a:lnSpc>
              <a:buFont typeface="Wingdings" panose="05000000000000000000" pitchFamily="2" charset="2"/>
              <a:buChar char="§"/>
            </a:pPr>
            <a:r>
              <a:rPr lang="en-US" sz="2700" dirty="0" err="1">
                <a:latin typeface="Coco Gothic" panose="020B0604020202020204" charset="0"/>
              </a:rPr>
              <a:t>Emrose</a:t>
            </a:r>
            <a:r>
              <a:rPr lang="en-US" sz="2700" dirty="0">
                <a:latin typeface="Coco Gothic" panose="020B0604020202020204" charset="0"/>
              </a:rPr>
              <a:t> Khan</a:t>
            </a:r>
            <a:r>
              <a:rPr lang="en-US" sz="2700" spc="100" dirty="0">
                <a:solidFill>
                  <a:srgbClr val="000000"/>
                </a:solidFill>
                <a:latin typeface="Coco Gothic" panose="020B0604020202020204" charset="0"/>
                <a:ea typeface="Coco Gothic"/>
                <a:cs typeface="Coco Gothic"/>
                <a:sym typeface="Coco Gothic"/>
              </a:rPr>
              <a:t>                              ID: </a:t>
            </a:r>
            <a:r>
              <a:rPr lang="en-US" sz="2700" dirty="0">
                <a:latin typeface="Coco Gothic" panose="020B0604020202020204" charset="0"/>
              </a:rPr>
              <a:t>2011932642</a:t>
            </a:r>
          </a:p>
          <a:p>
            <a:pPr marL="3949392" lvl="8" indent="-457200" algn="just">
              <a:lnSpc>
                <a:spcPts val="4865"/>
              </a:lnSpc>
              <a:buFont typeface="Wingdings" panose="05000000000000000000" pitchFamily="2" charset="2"/>
              <a:buChar char="§"/>
            </a:pPr>
            <a:r>
              <a:rPr lang="en-US" sz="2700" dirty="0">
                <a:latin typeface="Coco Gothic" panose="020B0604020202020204" charset="0"/>
              </a:rPr>
              <a:t>Md </a:t>
            </a:r>
            <a:r>
              <a:rPr lang="en-US" sz="2700" dirty="0" err="1">
                <a:latin typeface="Coco Gothic" panose="020B0604020202020204" charset="0"/>
              </a:rPr>
              <a:t>Nazmus</a:t>
            </a:r>
            <a:r>
              <a:rPr lang="en-US" sz="2700" dirty="0">
                <a:latin typeface="Coco Gothic" panose="020B0604020202020204" charset="0"/>
              </a:rPr>
              <a:t> Saqib                          </a:t>
            </a:r>
            <a:r>
              <a:rPr lang="en-US" sz="2700" spc="100" dirty="0">
                <a:solidFill>
                  <a:srgbClr val="000000"/>
                </a:solidFill>
                <a:latin typeface="Coco Gothic" panose="020B0604020202020204" charset="0"/>
                <a:ea typeface="Coco Gothic"/>
                <a:cs typeface="Coco Gothic"/>
                <a:sym typeface="Coco Gothic"/>
              </a:rPr>
              <a:t>ID: </a:t>
            </a:r>
            <a:r>
              <a:rPr lang="en-US" sz="2700" dirty="0">
                <a:latin typeface="Coco Gothic" panose="020B0604020202020204" charset="0"/>
              </a:rPr>
              <a:t>2021696642</a:t>
            </a:r>
          </a:p>
          <a:p>
            <a:pPr marL="3949392" lvl="8" indent="-457200" algn="just">
              <a:lnSpc>
                <a:spcPts val="4865"/>
              </a:lnSpc>
              <a:buFont typeface="Wingdings" panose="05000000000000000000" pitchFamily="2" charset="2"/>
              <a:buChar char="§"/>
            </a:pPr>
            <a:r>
              <a:rPr lang="en-US" sz="2700" dirty="0">
                <a:latin typeface="Coco Gothic" panose="020B0604020202020204" charset="0"/>
              </a:rPr>
              <a:t>Ashikur Rahman Ashik                    </a:t>
            </a:r>
            <a:r>
              <a:rPr lang="en-US" sz="2700" spc="100" dirty="0">
                <a:solidFill>
                  <a:srgbClr val="000000"/>
                </a:solidFill>
                <a:latin typeface="Coco Gothic" panose="020B0604020202020204" charset="0"/>
                <a:ea typeface="Coco Gothic"/>
                <a:cs typeface="Coco Gothic"/>
                <a:sym typeface="Coco Gothic"/>
              </a:rPr>
              <a:t>ID: </a:t>
            </a:r>
            <a:r>
              <a:rPr lang="en-US" sz="2700" dirty="0">
                <a:latin typeface="Coco Gothic" panose="020B0604020202020204" charset="0"/>
              </a:rPr>
              <a:t>2111632642</a:t>
            </a:r>
          </a:p>
          <a:p>
            <a:pPr marL="3949392" lvl="8" indent="-457200" algn="just">
              <a:lnSpc>
                <a:spcPts val="4865"/>
              </a:lnSpc>
              <a:buFont typeface="Wingdings" panose="05000000000000000000" pitchFamily="2" charset="2"/>
              <a:buChar char="§"/>
            </a:pPr>
            <a:r>
              <a:rPr lang="en-US" sz="2700" dirty="0">
                <a:latin typeface="Coco Gothic" panose="020B0604020202020204" charset="0"/>
              </a:rPr>
              <a:t>Masud Shahriar                              </a:t>
            </a:r>
            <a:r>
              <a:rPr lang="en-US" sz="2700" spc="100" dirty="0">
                <a:solidFill>
                  <a:srgbClr val="000000"/>
                </a:solidFill>
                <a:latin typeface="Coco Gothic" panose="020B0604020202020204" charset="0"/>
                <a:ea typeface="Coco Gothic"/>
                <a:cs typeface="Coco Gothic"/>
                <a:sym typeface="Coco Gothic"/>
              </a:rPr>
              <a:t>ID: </a:t>
            </a:r>
            <a:r>
              <a:rPr lang="en-US" sz="2700" dirty="0">
                <a:latin typeface="Coco Gothic" panose="020B0604020202020204" charset="0"/>
              </a:rPr>
              <a:t>2021850642</a:t>
            </a:r>
            <a:endParaRPr lang="en-US" sz="2700" spc="100" dirty="0">
              <a:solidFill>
                <a:srgbClr val="000000"/>
              </a:solidFill>
              <a:latin typeface="Coco Gothic" panose="020B0604020202020204" charset="0"/>
              <a:ea typeface="Coco Gothic"/>
              <a:cs typeface="Coco Gothic"/>
              <a:sym typeface="Coco Gothic"/>
            </a:endParaRPr>
          </a:p>
          <a:p>
            <a:pPr marL="291792" lvl="1" algn="just">
              <a:lnSpc>
                <a:spcPts val="4865"/>
              </a:lnSpc>
            </a:pPr>
            <a:endParaRPr lang="en-US" sz="2700" spc="100" dirty="0">
              <a:solidFill>
                <a:srgbClr val="000000"/>
              </a:solidFill>
              <a:latin typeface="Coco Gothic" panose="020B0604020202020204" charset="0"/>
              <a:ea typeface="Coco Gothic"/>
              <a:cs typeface="Coco Gothic"/>
              <a:sym typeface="Coco Gothic"/>
            </a:endParaRPr>
          </a:p>
          <a:p>
            <a:pPr marL="291792" lvl="1" algn="just">
              <a:lnSpc>
                <a:spcPts val="4865"/>
              </a:lnSpc>
            </a:pPr>
            <a:endParaRPr lang="en-US" sz="2700" spc="100" dirty="0">
              <a:solidFill>
                <a:srgbClr val="000000"/>
              </a:solidFill>
              <a:latin typeface="Coco Gothic" panose="020B0604020202020204" charset="0"/>
              <a:ea typeface="Coco Gothic"/>
              <a:cs typeface="Coco Gothic"/>
              <a:sym typeface="Coco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a:extLst>
            <a:ext uri="{FF2B5EF4-FFF2-40B4-BE49-F238E27FC236}">
              <a16:creationId xmlns:a16="http://schemas.microsoft.com/office/drawing/2014/main" id="{932EAD8B-7042-1E6F-4919-94E8D618A4EC}"/>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361ACA0D-B449-B898-FA62-F5330939C668}"/>
              </a:ext>
            </a:extLst>
          </p:cNvPr>
          <p:cNvSpPr txBox="1"/>
          <p:nvPr/>
        </p:nvSpPr>
        <p:spPr>
          <a:xfrm>
            <a:off x="815153" y="1311901"/>
            <a:ext cx="4702522"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INTRODUCTION</a:t>
            </a:r>
          </a:p>
        </p:txBody>
      </p:sp>
      <p:sp>
        <p:nvSpPr>
          <p:cNvPr id="5" name="TextBox 5">
            <a:extLst>
              <a:ext uri="{FF2B5EF4-FFF2-40B4-BE49-F238E27FC236}">
                <a16:creationId xmlns:a16="http://schemas.microsoft.com/office/drawing/2014/main" id="{9A8B1DD8-304E-1417-CF23-4495A1186154}"/>
              </a:ext>
            </a:extLst>
          </p:cNvPr>
          <p:cNvSpPr txBox="1"/>
          <p:nvPr/>
        </p:nvSpPr>
        <p:spPr>
          <a:xfrm>
            <a:off x="815153" y="3025095"/>
            <a:ext cx="16630027" cy="3623080"/>
          </a:xfrm>
          <a:prstGeom prst="rect">
            <a:avLst/>
          </a:prstGeom>
        </p:spPr>
        <p:txBody>
          <a:bodyPr lIns="0" tIns="0" rIns="0" bIns="0" rtlCol="0" anchor="t">
            <a:spAutoFit/>
          </a:bodyPr>
          <a:lstStyle/>
          <a:p>
            <a:pPr marL="583583" lvl="1" indent="-291791" algn="l">
              <a:lnSpc>
                <a:spcPts val="4865"/>
              </a:lnSpc>
              <a:buFont typeface="Arial"/>
              <a:buChar char="•"/>
            </a:pPr>
            <a:r>
              <a:rPr lang="en-US" sz="2703" spc="100" dirty="0">
                <a:solidFill>
                  <a:srgbClr val="000000"/>
                </a:solidFill>
                <a:latin typeface="Coco Gothic"/>
                <a:ea typeface="Coco Gothic"/>
                <a:cs typeface="Coco Gothic"/>
                <a:sym typeface="Coco Gothic"/>
              </a:rPr>
              <a:t>OUR PUZZLE SOLVER IS A PYTHON-BASED PROJECT</a:t>
            </a:r>
          </a:p>
          <a:p>
            <a:pPr marL="583583" lvl="1" indent="-291791" algn="l">
              <a:lnSpc>
                <a:spcPts val="4865"/>
              </a:lnSpc>
              <a:buFont typeface="Arial"/>
              <a:buChar char="•"/>
            </a:pPr>
            <a:r>
              <a:rPr lang="en-US" sz="2703" spc="100" dirty="0">
                <a:solidFill>
                  <a:srgbClr val="000000"/>
                </a:solidFill>
                <a:latin typeface="Coco Gothic"/>
                <a:ea typeface="Coco Gothic"/>
                <a:cs typeface="Coco Gothic"/>
                <a:sym typeface="Coco Gothic"/>
              </a:rPr>
              <a:t>IT SOLVES TWO CLASSIC PUZZLES: </a:t>
            </a:r>
            <a:r>
              <a:rPr lang="en-US" sz="2703" b="1" spc="100" dirty="0">
                <a:solidFill>
                  <a:srgbClr val="000000"/>
                </a:solidFill>
                <a:latin typeface="Coco Gothic Bold"/>
                <a:ea typeface="Coco Gothic Bold"/>
                <a:cs typeface="Coco Gothic Bold"/>
                <a:sym typeface="Coco Gothic Bold"/>
              </a:rPr>
              <a:t>8-PUZZLE AND SUDOKU </a:t>
            </a:r>
          </a:p>
          <a:p>
            <a:pPr marL="583583" lvl="1" indent="-291791" algn="l">
              <a:lnSpc>
                <a:spcPts val="4865"/>
              </a:lnSpc>
              <a:buFont typeface="Arial"/>
              <a:buChar char="•"/>
            </a:pPr>
            <a:r>
              <a:rPr lang="en-US" sz="2703" spc="100" dirty="0">
                <a:solidFill>
                  <a:srgbClr val="000000"/>
                </a:solidFill>
                <a:latin typeface="Coco Gothic"/>
                <a:ea typeface="Coco Gothic"/>
                <a:cs typeface="Coco Gothic"/>
                <a:sym typeface="Coco Gothic"/>
              </a:rPr>
              <a:t>USER-FRIENDLY SETUP</a:t>
            </a:r>
          </a:p>
          <a:p>
            <a:pPr marL="583583" lvl="1" indent="-291791" algn="l">
              <a:lnSpc>
                <a:spcPts val="4865"/>
              </a:lnSpc>
              <a:buFont typeface="Arial"/>
              <a:buChar char="•"/>
            </a:pPr>
            <a:r>
              <a:rPr lang="en-US" sz="2703" spc="100" dirty="0">
                <a:solidFill>
                  <a:srgbClr val="000000"/>
                </a:solidFill>
                <a:latin typeface="Coco Gothic"/>
                <a:ea typeface="Coco Gothic"/>
                <a:cs typeface="Coco Gothic"/>
                <a:sym typeface="Coco Gothic"/>
              </a:rPr>
              <a:t>CUSTOM INPUT AND ALGORITHM SELECTION</a:t>
            </a:r>
          </a:p>
          <a:p>
            <a:pPr marL="583583" lvl="1" indent="-291791" algn="l">
              <a:lnSpc>
                <a:spcPts val="4865"/>
              </a:lnSpc>
              <a:buFont typeface="Arial"/>
              <a:buChar char="•"/>
            </a:pPr>
            <a:r>
              <a:rPr lang="en-US" sz="2703" spc="100" dirty="0">
                <a:solidFill>
                  <a:srgbClr val="000000"/>
                </a:solidFill>
                <a:latin typeface="Coco Gothic"/>
                <a:ea typeface="Coco Gothic"/>
                <a:cs typeface="Coco Gothic"/>
                <a:sym typeface="Coco Gothic"/>
              </a:rPr>
              <a:t>DISPLAYS THE TOTAL TIME TAKEN TO SOLVE THE PUZZLE</a:t>
            </a:r>
          </a:p>
          <a:p>
            <a:pPr marL="583583" lvl="1" indent="-291791" algn="l">
              <a:lnSpc>
                <a:spcPts val="4865"/>
              </a:lnSpc>
              <a:buFont typeface="Arial"/>
              <a:buChar char="•"/>
            </a:pPr>
            <a:r>
              <a:rPr lang="en-US" sz="2703" spc="100" dirty="0">
                <a:solidFill>
                  <a:srgbClr val="000000"/>
                </a:solidFill>
                <a:latin typeface="Coco Gothic"/>
                <a:ea typeface="Coco Gothic"/>
                <a:cs typeface="Coco Gothic"/>
                <a:sym typeface="Coco Gothic"/>
              </a:rPr>
              <a:t>HELPS THE USER TO COMPARE PERFORMANCE </a:t>
            </a:r>
          </a:p>
        </p:txBody>
      </p:sp>
      <p:sp>
        <p:nvSpPr>
          <p:cNvPr id="7" name="TextBox 6">
            <a:extLst>
              <a:ext uri="{FF2B5EF4-FFF2-40B4-BE49-F238E27FC236}">
                <a16:creationId xmlns:a16="http://schemas.microsoft.com/office/drawing/2014/main" id="{5F81C338-52D2-3C6C-6613-0713F7F4EE5A}"/>
              </a:ext>
            </a:extLst>
          </p:cNvPr>
          <p:cNvSpPr txBox="1"/>
          <p:nvPr/>
        </p:nvSpPr>
        <p:spPr>
          <a:xfrm>
            <a:off x="14020800" y="7651842"/>
            <a:ext cx="4267200" cy="404150"/>
          </a:xfrm>
          <a:prstGeom prst="rect">
            <a:avLst/>
          </a:prstGeom>
          <a:noFill/>
        </p:spPr>
        <p:txBody>
          <a:bodyPr wrap="square">
            <a:spAutoFit/>
          </a:bodyPr>
          <a:lstStyle/>
          <a:p>
            <a:pPr lvl="3" indent="-165408" algn="ctr">
              <a:lnSpc>
                <a:spcPct val="150000"/>
              </a:lnSpc>
            </a:pPr>
            <a:endParaRPr lang="en-US" sz="1500" spc="100" dirty="0">
              <a:solidFill>
                <a:schemeClr val="tx2"/>
              </a:solidFill>
              <a:latin typeface="Coco Gothic"/>
              <a:ea typeface="Coco Gothic"/>
              <a:cs typeface="Coco Gothic"/>
              <a:sym typeface="Coco Gothic"/>
            </a:endParaRPr>
          </a:p>
        </p:txBody>
      </p:sp>
    </p:spTree>
    <p:extLst>
      <p:ext uri="{BB962C8B-B14F-4D97-AF65-F5344CB8AC3E}">
        <p14:creationId xmlns:p14="http://schemas.microsoft.com/office/powerpoint/2010/main" val="897124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684524" y="1311901"/>
            <a:ext cx="7301166"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PROBLEM DESCRIPTION</a:t>
            </a:r>
          </a:p>
        </p:txBody>
      </p:sp>
      <p:sp>
        <p:nvSpPr>
          <p:cNvPr id="5" name="TextBox 5"/>
          <p:cNvSpPr txBox="1"/>
          <p:nvPr/>
        </p:nvSpPr>
        <p:spPr>
          <a:xfrm>
            <a:off x="684524" y="3116263"/>
            <a:ext cx="10300068" cy="4173855"/>
          </a:xfrm>
          <a:prstGeom prst="rect">
            <a:avLst/>
          </a:prstGeom>
        </p:spPr>
        <p:txBody>
          <a:bodyPr lIns="0" tIns="0" rIns="0" bIns="0" rtlCol="0" anchor="t">
            <a:spAutoFit/>
          </a:bodyPr>
          <a:lstStyle/>
          <a:p>
            <a:pPr marL="582930" lvl="1" indent="-291465" algn="l">
              <a:lnSpc>
                <a:spcPts val="4725"/>
              </a:lnSpc>
              <a:buFont typeface="Arial"/>
              <a:buChar char="•"/>
            </a:pPr>
            <a:r>
              <a:rPr lang="en-US" sz="2700" spc="116">
                <a:solidFill>
                  <a:srgbClr val="000000"/>
                </a:solidFill>
                <a:latin typeface="Coco Gothic"/>
                <a:ea typeface="Coco Gothic"/>
                <a:cs typeface="Coco Gothic"/>
                <a:sym typeface="Coco Gothic"/>
              </a:rPr>
              <a:t>A PUZZLE SOLVER THAT EFFICIENTLY TACKLES DIVERSE PUZZLES</a:t>
            </a:r>
          </a:p>
          <a:p>
            <a:pPr marL="582930" lvl="1" indent="-291465" algn="l">
              <a:lnSpc>
                <a:spcPts val="4725"/>
              </a:lnSpc>
              <a:buFont typeface="Arial"/>
              <a:buChar char="•"/>
            </a:pPr>
            <a:r>
              <a:rPr lang="en-US" sz="2700" spc="116">
                <a:solidFill>
                  <a:srgbClr val="000000"/>
                </a:solidFill>
                <a:latin typeface="Coco Gothic"/>
                <a:ea typeface="Coco Gothic"/>
                <a:cs typeface="Coco Gothic"/>
                <a:sym typeface="Coco Gothic"/>
              </a:rPr>
              <a:t>USES MULTIPLE SEARCH ALGORITHMS</a:t>
            </a:r>
          </a:p>
          <a:p>
            <a:pPr marL="582930" lvl="1" indent="-291465" algn="l">
              <a:lnSpc>
                <a:spcPts val="4725"/>
              </a:lnSpc>
              <a:buFont typeface="Arial"/>
              <a:buChar char="•"/>
            </a:pPr>
            <a:r>
              <a:rPr lang="en-US" sz="2700" spc="116">
                <a:solidFill>
                  <a:srgbClr val="000000"/>
                </a:solidFill>
                <a:latin typeface="Coco Gothic"/>
                <a:ea typeface="Coco Gothic"/>
                <a:cs typeface="Coco Gothic"/>
                <a:sym typeface="Coco Gothic"/>
              </a:rPr>
              <a:t>CUSTOMIZED HEURISTICS FOR INFORMED SEARCHES</a:t>
            </a:r>
          </a:p>
          <a:p>
            <a:pPr marL="582930" lvl="1" indent="-291465" algn="l">
              <a:lnSpc>
                <a:spcPts val="4725"/>
              </a:lnSpc>
              <a:buFont typeface="Arial"/>
              <a:buChar char="•"/>
            </a:pPr>
            <a:r>
              <a:rPr lang="en-US" sz="2700" spc="116">
                <a:solidFill>
                  <a:srgbClr val="000000"/>
                </a:solidFill>
                <a:latin typeface="Coco Gothic"/>
                <a:ea typeface="Coco Gothic"/>
                <a:cs typeface="Coco Gothic"/>
                <a:sym typeface="Coco Gothic"/>
              </a:rPr>
              <a:t>CUSTOM USER INPUT AND ALGORITHM SELECTION</a:t>
            </a:r>
          </a:p>
          <a:p>
            <a:pPr marL="582930" lvl="1" indent="-291465" algn="l">
              <a:lnSpc>
                <a:spcPts val="4725"/>
              </a:lnSpc>
              <a:buFont typeface="Arial"/>
              <a:buChar char="•"/>
            </a:pPr>
            <a:r>
              <a:rPr lang="en-US" sz="2700" spc="116">
                <a:solidFill>
                  <a:srgbClr val="000000"/>
                </a:solidFill>
                <a:latin typeface="Coco Gothic"/>
                <a:ea typeface="Coco Gothic"/>
                <a:cs typeface="Coco Gothic"/>
                <a:sym typeface="Coco Gothic"/>
              </a:rPr>
              <a:t>PERFORMANCE COMPARISON</a:t>
            </a:r>
          </a:p>
        </p:txBody>
      </p:sp>
      <p:sp>
        <p:nvSpPr>
          <p:cNvPr id="10" name="TextBox 9">
            <a:extLst>
              <a:ext uri="{FF2B5EF4-FFF2-40B4-BE49-F238E27FC236}">
                <a16:creationId xmlns:a16="http://schemas.microsoft.com/office/drawing/2014/main" id="{98E275FD-A8EF-4F48-7CAB-F70CDB777765}"/>
              </a:ext>
            </a:extLst>
          </p:cNvPr>
          <p:cNvSpPr txBox="1"/>
          <p:nvPr/>
        </p:nvSpPr>
        <p:spPr>
          <a:xfrm>
            <a:off x="14249400" y="8465604"/>
            <a:ext cx="4038600" cy="574901"/>
          </a:xfrm>
          <a:prstGeom prst="rect">
            <a:avLst/>
          </a:prstGeom>
          <a:noFill/>
        </p:spPr>
        <p:txBody>
          <a:bodyPr wrap="square">
            <a:spAutoFit/>
          </a:bodyPr>
          <a:lstStyle/>
          <a:p>
            <a:pPr lvl="5" indent="-165408" algn="ctr">
              <a:lnSpc>
                <a:spcPct val="150000"/>
              </a:lnSpc>
            </a:pPr>
            <a:endParaRPr lang="en-US" sz="1100" spc="100" dirty="0">
              <a:solidFill>
                <a:schemeClr val="tx2"/>
              </a:solidFill>
              <a:latin typeface="Coco Gothic"/>
              <a:ea typeface="Coco Gothic"/>
              <a:cs typeface="Coco Gothic"/>
              <a:sym typeface="Coco Gothic"/>
            </a:endParaRPr>
          </a:p>
          <a:p>
            <a:pPr lvl="5" indent="-165408" algn="ctr">
              <a:lnSpc>
                <a:spcPct val="150000"/>
              </a:lnSpc>
            </a:pPr>
            <a:endParaRPr lang="en-US" sz="1100" spc="100" dirty="0">
              <a:solidFill>
                <a:schemeClr val="tx2"/>
              </a:solidFill>
              <a:latin typeface="Coco Gothic"/>
              <a:ea typeface="Coco Gothic"/>
              <a:cs typeface="Coco Gothic"/>
              <a:sym typeface="Coco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651867" y="1402733"/>
            <a:ext cx="7178764"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TYPES OF ALGORITHMS</a:t>
            </a:r>
          </a:p>
        </p:txBody>
      </p:sp>
      <p:sp>
        <p:nvSpPr>
          <p:cNvPr id="5" name="TextBox 5"/>
          <p:cNvSpPr txBox="1"/>
          <p:nvPr/>
        </p:nvSpPr>
        <p:spPr>
          <a:xfrm>
            <a:off x="996140" y="2674030"/>
            <a:ext cx="14264206" cy="4866894"/>
          </a:xfrm>
          <a:prstGeom prst="rect">
            <a:avLst/>
          </a:prstGeom>
        </p:spPr>
        <p:txBody>
          <a:bodyPr lIns="0" tIns="0" rIns="0" bIns="0" rtlCol="0" anchor="t">
            <a:spAutoFit/>
          </a:bodyPr>
          <a:lstStyle/>
          <a:p>
            <a:pPr algn="l">
              <a:lnSpc>
                <a:spcPts val="4293"/>
              </a:lnSpc>
            </a:pPr>
            <a:r>
              <a:rPr lang="en-US" sz="2700" b="1" spc="367">
                <a:solidFill>
                  <a:srgbClr val="000000"/>
                </a:solidFill>
                <a:latin typeface="Coco Gothic Bold"/>
                <a:ea typeface="Coco Gothic Bold"/>
                <a:cs typeface="Coco Gothic Bold"/>
                <a:sym typeface="Coco Gothic Bold"/>
              </a:rPr>
              <a:t>8-PUZZLE:</a:t>
            </a:r>
          </a:p>
          <a:p>
            <a:pPr marL="582930" lvl="1" indent="-291465" algn="l">
              <a:lnSpc>
                <a:spcPts val="4293"/>
              </a:lnSpc>
              <a:buFont typeface="Arial"/>
              <a:buChar char="•"/>
            </a:pPr>
            <a:r>
              <a:rPr lang="en-US" sz="2700" spc="367">
                <a:solidFill>
                  <a:srgbClr val="000000"/>
                </a:solidFill>
                <a:latin typeface="Coco Gothic"/>
                <a:ea typeface="Coco Gothic"/>
                <a:cs typeface="Coco Gothic"/>
                <a:sym typeface="Coco Gothic"/>
              </a:rPr>
              <a:t>BFS (BREADTH FIRST SEARCH)</a:t>
            </a:r>
          </a:p>
          <a:p>
            <a:pPr marL="582930" lvl="1" indent="-291465" algn="l">
              <a:lnSpc>
                <a:spcPts val="4293"/>
              </a:lnSpc>
              <a:buFont typeface="Arial"/>
              <a:buChar char="•"/>
            </a:pPr>
            <a:r>
              <a:rPr lang="en-US" sz="2700" spc="367">
                <a:solidFill>
                  <a:srgbClr val="000000"/>
                </a:solidFill>
                <a:latin typeface="Coco Gothic"/>
                <a:ea typeface="Coco Gothic"/>
                <a:cs typeface="Coco Gothic"/>
                <a:sym typeface="Coco Gothic"/>
              </a:rPr>
              <a:t>DFS (DEPTH-FIRST SEARCH)</a:t>
            </a:r>
          </a:p>
          <a:p>
            <a:pPr marL="582930" lvl="1" indent="-291465" algn="l">
              <a:lnSpc>
                <a:spcPts val="4293"/>
              </a:lnSpc>
              <a:buFont typeface="Arial"/>
              <a:buChar char="•"/>
            </a:pPr>
            <a:r>
              <a:rPr lang="en-US" sz="2700" spc="367">
                <a:solidFill>
                  <a:srgbClr val="000000"/>
                </a:solidFill>
                <a:latin typeface="Coco Gothic"/>
                <a:ea typeface="Coco Gothic"/>
                <a:cs typeface="Coco Gothic"/>
                <a:sym typeface="Coco Gothic"/>
              </a:rPr>
              <a:t>A* (WITH A MANHATTAN DISTANCE HEURISTIC)</a:t>
            </a:r>
          </a:p>
          <a:p>
            <a:pPr algn="l">
              <a:lnSpc>
                <a:spcPts val="4293"/>
              </a:lnSpc>
            </a:pPr>
            <a:endParaRPr lang="en-US" sz="2700" spc="367">
              <a:solidFill>
                <a:srgbClr val="000000"/>
              </a:solidFill>
              <a:latin typeface="Coco Gothic"/>
              <a:ea typeface="Coco Gothic"/>
              <a:cs typeface="Coco Gothic"/>
              <a:sym typeface="Coco Gothic"/>
            </a:endParaRPr>
          </a:p>
          <a:p>
            <a:pPr algn="l">
              <a:lnSpc>
                <a:spcPts val="4293"/>
              </a:lnSpc>
            </a:pPr>
            <a:r>
              <a:rPr lang="en-US" sz="2700" b="1" spc="367">
                <a:solidFill>
                  <a:srgbClr val="000000"/>
                </a:solidFill>
                <a:latin typeface="Coco Gothic Bold"/>
                <a:ea typeface="Coco Gothic Bold"/>
                <a:cs typeface="Coco Gothic Bold"/>
                <a:sym typeface="Coco Gothic Bold"/>
              </a:rPr>
              <a:t>SUDOKU:</a:t>
            </a:r>
          </a:p>
          <a:p>
            <a:pPr marL="582930" lvl="1" indent="-291465" algn="l">
              <a:lnSpc>
                <a:spcPts val="4293"/>
              </a:lnSpc>
              <a:buFont typeface="Arial"/>
              <a:buChar char="•"/>
            </a:pPr>
            <a:r>
              <a:rPr lang="en-US" sz="2700" spc="367">
                <a:solidFill>
                  <a:srgbClr val="000000"/>
                </a:solidFill>
                <a:latin typeface="Coco Gothic"/>
                <a:ea typeface="Coco Gothic"/>
                <a:cs typeface="Coco Gothic"/>
                <a:sym typeface="Coco Gothic"/>
              </a:rPr>
              <a:t>BASIC BACKTRACKING</a:t>
            </a:r>
          </a:p>
          <a:p>
            <a:pPr marL="582930" lvl="1" indent="-291465" algn="l">
              <a:lnSpc>
                <a:spcPts val="4293"/>
              </a:lnSpc>
              <a:buFont typeface="Arial"/>
              <a:buChar char="•"/>
            </a:pPr>
            <a:r>
              <a:rPr lang="en-US" sz="2700" spc="367">
                <a:solidFill>
                  <a:srgbClr val="000000"/>
                </a:solidFill>
                <a:latin typeface="Coco Gothic"/>
                <a:ea typeface="Coco Gothic"/>
                <a:cs typeface="Coco Gothic"/>
                <a:sym typeface="Coco Gothic"/>
              </a:rPr>
              <a:t>ADVANCED BACKTRACKING (WITH THE MINIMUM REMAINING VALUE HEURISTIC)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684524" y="1419062"/>
            <a:ext cx="5790836"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DESIGN OVERVIEW</a:t>
            </a:r>
          </a:p>
        </p:txBody>
      </p:sp>
      <p:sp>
        <p:nvSpPr>
          <p:cNvPr id="5" name="TextBox 5"/>
          <p:cNvSpPr txBox="1"/>
          <p:nvPr/>
        </p:nvSpPr>
        <p:spPr>
          <a:xfrm>
            <a:off x="1159329" y="2395538"/>
            <a:ext cx="14966335" cy="5361276"/>
          </a:xfrm>
          <a:prstGeom prst="rect">
            <a:avLst/>
          </a:prstGeom>
        </p:spPr>
        <p:txBody>
          <a:bodyPr lIns="0" tIns="0" rIns="0" bIns="0" rtlCol="0" anchor="t">
            <a:spAutoFit/>
          </a:bodyPr>
          <a:lstStyle/>
          <a:p>
            <a:pPr algn="l">
              <a:lnSpc>
                <a:spcPts val="5265"/>
              </a:lnSpc>
            </a:pPr>
            <a:r>
              <a:rPr lang="en-US" sz="2700" b="1" spc="81" dirty="0">
                <a:solidFill>
                  <a:srgbClr val="000000"/>
                </a:solidFill>
                <a:latin typeface="Coco Gothic Bold"/>
                <a:ea typeface="Coco Gothic Bold"/>
                <a:cs typeface="Coco Gothic Bold"/>
                <a:sym typeface="Coco Gothic Bold"/>
              </a:rPr>
              <a:t>MODULAR STRUCTURE:</a:t>
            </a:r>
          </a:p>
          <a:p>
            <a:pPr algn="l">
              <a:lnSpc>
                <a:spcPts val="5265"/>
              </a:lnSpc>
            </a:pPr>
            <a:endParaRPr lang="en-US" sz="2700" b="1" spc="81" dirty="0">
              <a:solidFill>
                <a:srgbClr val="000000"/>
              </a:solidFill>
              <a:latin typeface="Coco Gothic Bold"/>
              <a:ea typeface="Coco Gothic Bold"/>
              <a:cs typeface="Coco Gothic Bold"/>
              <a:sym typeface="Coco Gothic Bold"/>
            </a:endParaRPr>
          </a:p>
          <a:p>
            <a:pPr marL="582930" lvl="1" indent="-291465" algn="l">
              <a:lnSpc>
                <a:spcPts val="5265"/>
              </a:lnSpc>
              <a:buFont typeface="Arial"/>
              <a:buChar char="•"/>
            </a:pPr>
            <a:r>
              <a:rPr lang="en-US" sz="2700" i="1" spc="81" dirty="0">
                <a:solidFill>
                  <a:srgbClr val="000000"/>
                </a:solidFill>
                <a:latin typeface="Coco Gothic Italics"/>
                <a:ea typeface="Coco Gothic Italics"/>
                <a:cs typeface="Coco Gothic Italics"/>
                <a:sym typeface="Coco Gothic Italics"/>
              </a:rPr>
              <a:t>8-PUZZLE MODULE:</a:t>
            </a:r>
            <a:r>
              <a:rPr lang="en-US" sz="2700" spc="81" dirty="0">
                <a:solidFill>
                  <a:srgbClr val="000000"/>
                </a:solidFill>
                <a:latin typeface="Coco Gothic"/>
                <a:ea typeface="Coco Gothic"/>
                <a:cs typeface="Coco Gothic"/>
                <a:sym typeface="Coco Gothic"/>
              </a:rPr>
              <a:t> CONTAINS THE EIGHT PUZZLE CLASS, METHODS FOR GENERATING NEW STATES, AND IMPLEMENTATIONS OF THREE SEARCH ALGORITHMS</a:t>
            </a:r>
          </a:p>
          <a:p>
            <a:pPr algn="l">
              <a:lnSpc>
                <a:spcPts val="5265"/>
              </a:lnSpc>
            </a:pPr>
            <a:endParaRPr lang="en-US" sz="2700" spc="81" dirty="0">
              <a:solidFill>
                <a:srgbClr val="000000"/>
              </a:solidFill>
              <a:latin typeface="Coco Gothic"/>
              <a:ea typeface="Coco Gothic"/>
              <a:cs typeface="Coco Gothic"/>
              <a:sym typeface="Coco Gothic"/>
            </a:endParaRPr>
          </a:p>
          <a:p>
            <a:pPr marL="582930" lvl="1" indent="-291465" algn="l">
              <a:lnSpc>
                <a:spcPts val="5265"/>
              </a:lnSpc>
              <a:buFont typeface="Arial"/>
              <a:buChar char="•"/>
            </a:pPr>
            <a:r>
              <a:rPr lang="en-US" sz="2700" i="1" spc="81" dirty="0">
                <a:solidFill>
                  <a:srgbClr val="000000"/>
                </a:solidFill>
                <a:latin typeface="Coco Gothic Italics"/>
                <a:ea typeface="Coco Gothic Italics"/>
                <a:cs typeface="Coco Gothic Italics"/>
                <a:sym typeface="Coco Gothic Italics"/>
              </a:rPr>
              <a:t>SUDOKU MODULE:</a:t>
            </a:r>
            <a:r>
              <a:rPr lang="en-US" sz="2700" spc="81" dirty="0">
                <a:solidFill>
                  <a:srgbClr val="000000"/>
                </a:solidFill>
                <a:latin typeface="Coco Gothic"/>
                <a:ea typeface="Coco Gothic"/>
                <a:cs typeface="Coco Gothic"/>
                <a:sym typeface="Coco Gothic"/>
              </a:rPr>
              <a:t> IMPLEMENTS RECURSIVE BACKTRACKING WITH TWO ALGORITHM VARIANTS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684524" y="1419062"/>
            <a:ext cx="5790836"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DESIGN OVERVIEW</a:t>
            </a:r>
          </a:p>
        </p:txBody>
      </p:sp>
      <p:sp>
        <p:nvSpPr>
          <p:cNvPr id="5" name="TextBox 5"/>
          <p:cNvSpPr txBox="1"/>
          <p:nvPr/>
        </p:nvSpPr>
        <p:spPr>
          <a:xfrm>
            <a:off x="1028700" y="2311226"/>
            <a:ext cx="15619478" cy="5361276"/>
          </a:xfrm>
          <a:prstGeom prst="rect">
            <a:avLst/>
          </a:prstGeom>
        </p:spPr>
        <p:txBody>
          <a:bodyPr lIns="0" tIns="0" rIns="0" bIns="0" rtlCol="0" anchor="t">
            <a:spAutoFit/>
          </a:bodyPr>
          <a:lstStyle/>
          <a:p>
            <a:pPr algn="l">
              <a:lnSpc>
                <a:spcPts val="5265"/>
              </a:lnSpc>
            </a:pPr>
            <a:r>
              <a:rPr lang="en-US" sz="2700" b="1" spc="81" dirty="0">
                <a:solidFill>
                  <a:srgbClr val="000000"/>
                </a:solidFill>
                <a:latin typeface="Coco Gothic Bold"/>
                <a:ea typeface="Coco Gothic Bold"/>
                <a:cs typeface="Coco Gothic Bold"/>
                <a:sym typeface="Coco Gothic Bold"/>
              </a:rPr>
              <a:t>USER INPUT/OUTPUT MECHANISMS:</a:t>
            </a:r>
          </a:p>
          <a:p>
            <a:pPr marL="582930" lvl="1" indent="-291465" algn="just">
              <a:lnSpc>
                <a:spcPts val="5265"/>
              </a:lnSpc>
              <a:buFont typeface="Arial"/>
              <a:buChar char="•"/>
            </a:pPr>
            <a:r>
              <a:rPr lang="en-US" sz="2700" i="1" spc="81" dirty="0">
                <a:solidFill>
                  <a:srgbClr val="000000"/>
                </a:solidFill>
                <a:latin typeface="Coco Gothic Italics"/>
                <a:ea typeface="Coco Gothic Italics"/>
                <a:cs typeface="Coco Gothic Italics"/>
                <a:sym typeface="Coco Gothic Italics"/>
              </a:rPr>
              <a:t>INPUT:</a:t>
            </a:r>
            <a:r>
              <a:rPr lang="en-US" sz="2700" spc="81" dirty="0">
                <a:solidFill>
                  <a:srgbClr val="000000"/>
                </a:solidFill>
                <a:latin typeface="Coco Gothic"/>
                <a:ea typeface="Coco Gothic"/>
                <a:cs typeface="Coco Gothic"/>
                <a:sym typeface="Coco Gothic"/>
              </a:rPr>
              <a:t> THE PROGRAM INTERACTS WITH THE USER VIA THE COMMAND LINE. FOR THE 8-PUZZLE, THE USER INPUTS A FLAT SEQUENCE OF 9 NUMBERS REPRESENTING THE GRID, WHILE FOR SUDOKU, THE USER ENTERS 9 ROWS WITH 9 NUMBERS EACH. THE NUMBER ZERO (0) REPRESENTS BLANK SPACE</a:t>
            </a:r>
          </a:p>
          <a:p>
            <a:pPr marL="582930" lvl="1" indent="-291465" algn="just">
              <a:lnSpc>
                <a:spcPts val="5265"/>
              </a:lnSpc>
              <a:buFont typeface="Arial"/>
              <a:buChar char="•"/>
            </a:pPr>
            <a:r>
              <a:rPr lang="en-US" sz="2700" i="1" spc="81" dirty="0">
                <a:solidFill>
                  <a:srgbClr val="000000"/>
                </a:solidFill>
                <a:latin typeface="Coco Gothic Italics"/>
                <a:ea typeface="Coco Gothic Italics"/>
                <a:cs typeface="Coco Gothic Italics"/>
                <a:sym typeface="Coco Gothic Italics"/>
              </a:rPr>
              <a:t>ALGORITHM SELECTION: </a:t>
            </a:r>
            <a:r>
              <a:rPr lang="en-US" sz="2700" spc="81" dirty="0">
                <a:solidFill>
                  <a:srgbClr val="000000"/>
                </a:solidFill>
                <a:latin typeface="Coco Gothic"/>
                <a:ea typeface="Coco Gothic Italics"/>
                <a:cs typeface="Coco Gothic Italics"/>
                <a:sym typeface="Coco Gothic"/>
              </a:rPr>
              <a:t>USER SELECTS ALGORITHM TO SOLVE</a:t>
            </a:r>
            <a:endParaRPr lang="en-US" sz="2700" spc="81" dirty="0">
              <a:solidFill>
                <a:srgbClr val="000000"/>
              </a:solidFill>
              <a:latin typeface="Coco Gothic"/>
              <a:ea typeface="Coco Gothic"/>
              <a:cs typeface="Coco Gothic"/>
              <a:sym typeface="Coco Gothic"/>
            </a:endParaRPr>
          </a:p>
          <a:p>
            <a:pPr marL="582930" lvl="1" indent="-291465" algn="just">
              <a:lnSpc>
                <a:spcPts val="5265"/>
              </a:lnSpc>
              <a:buFont typeface="Arial"/>
              <a:buChar char="•"/>
            </a:pPr>
            <a:r>
              <a:rPr lang="en-US" sz="2700" i="1" spc="81" dirty="0">
                <a:solidFill>
                  <a:srgbClr val="000000"/>
                </a:solidFill>
                <a:latin typeface="Coco Gothic Italics"/>
                <a:ea typeface="Coco Gothic Italics"/>
                <a:cs typeface="Coco Gothic Italics"/>
                <a:sym typeface="Coco Gothic Italics"/>
              </a:rPr>
              <a:t>OUTPUT:</a:t>
            </a:r>
            <a:r>
              <a:rPr lang="en-US" sz="2700" spc="81" dirty="0">
                <a:solidFill>
                  <a:srgbClr val="000000"/>
                </a:solidFill>
                <a:latin typeface="Coco Gothic"/>
                <a:ea typeface="Coco Gothic"/>
                <a:cs typeface="Coco Gothic"/>
                <a:sym typeface="Coco Gothic"/>
              </a:rPr>
              <a:t> THE SYSTEM PRESENTS THE SOLUTION PATH OR FINAL SOLVED PUZZLE, ALONG WITH PERFORMANCE METRICS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5" name="TextBox 5"/>
          <p:cNvSpPr txBox="1"/>
          <p:nvPr/>
        </p:nvSpPr>
        <p:spPr>
          <a:xfrm>
            <a:off x="819960" y="914400"/>
            <a:ext cx="4728203" cy="613410"/>
          </a:xfrm>
          <a:prstGeom prst="rect">
            <a:avLst/>
          </a:prstGeom>
        </p:spPr>
        <p:txBody>
          <a:bodyPr lIns="0" tIns="0" rIns="0" bIns="0" rtlCol="0" anchor="t">
            <a:spAutoFit/>
          </a:bodyPr>
          <a:lstStyle/>
          <a:p>
            <a:pPr algn="ctr">
              <a:lnSpc>
                <a:spcPts val="5040"/>
              </a:lnSpc>
              <a:spcBef>
                <a:spcPct val="0"/>
              </a:spcBef>
            </a:pPr>
            <a:r>
              <a:rPr lang="en-US" sz="3600" b="1" spc="1119" dirty="0">
                <a:solidFill>
                  <a:srgbClr val="000000"/>
                </a:solidFill>
                <a:latin typeface="Sukar Bold"/>
                <a:ea typeface="Sukar Bold"/>
                <a:cs typeface="Sukar Bold"/>
                <a:sym typeface="Sukar Bold"/>
              </a:rPr>
              <a:t>PERFORMANCE </a:t>
            </a:r>
          </a:p>
        </p:txBody>
      </p:sp>
      <p:sp>
        <p:nvSpPr>
          <p:cNvPr id="6" name="TextBox 6"/>
          <p:cNvSpPr txBox="1"/>
          <p:nvPr/>
        </p:nvSpPr>
        <p:spPr>
          <a:xfrm>
            <a:off x="819960" y="1527810"/>
            <a:ext cx="13643721" cy="552450"/>
          </a:xfrm>
          <a:prstGeom prst="rect">
            <a:avLst/>
          </a:prstGeom>
        </p:spPr>
        <p:txBody>
          <a:bodyPr lIns="0" tIns="0" rIns="0" bIns="0" rtlCol="0" anchor="t">
            <a:spAutoFit/>
          </a:bodyPr>
          <a:lstStyle/>
          <a:p>
            <a:pPr marL="518160" lvl="1" indent="-259080" algn="l">
              <a:lnSpc>
                <a:spcPts val="4680"/>
              </a:lnSpc>
              <a:buFont typeface="Arial"/>
              <a:buChar char="•"/>
            </a:pPr>
            <a:r>
              <a:rPr lang="en-US" sz="2400" b="1" spc="72" dirty="0">
                <a:solidFill>
                  <a:srgbClr val="000000"/>
                </a:solidFill>
                <a:latin typeface="Coco Gothic Bold"/>
                <a:ea typeface="Coco Gothic Bold"/>
                <a:cs typeface="Coco Gothic Bold"/>
                <a:sym typeface="Coco Gothic Bold"/>
              </a:rPr>
              <a:t>8 PUZZLE</a:t>
            </a:r>
          </a:p>
        </p:txBody>
      </p:sp>
      <p:pic>
        <p:nvPicPr>
          <p:cNvPr id="8" name="Picture 7">
            <a:extLst>
              <a:ext uri="{FF2B5EF4-FFF2-40B4-BE49-F238E27FC236}">
                <a16:creationId xmlns:a16="http://schemas.microsoft.com/office/drawing/2014/main" id="{A7BCED76-C789-08D6-E9D8-CF234E1EE8F5}"/>
              </a:ext>
            </a:extLst>
          </p:cNvPr>
          <p:cNvPicPr>
            <a:picLocks noChangeAspect="1"/>
          </p:cNvPicPr>
          <p:nvPr/>
        </p:nvPicPr>
        <p:blipFill>
          <a:blip r:embed="rId2">
            <a:extLst>
              <a:ext uri="{28A0092B-C50C-407E-A947-70E740481C1C}">
                <a14:useLocalDpi xmlns:a14="http://schemas.microsoft.com/office/drawing/2010/main" val="0"/>
              </a:ext>
            </a:extLst>
          </a:blip>
          <a:srcRect b="15714"/>
          <a:stretch>
            <a:fillRect/>
          </a:stretch>
        </p:blipFill>
        <p:spPr>
          <a:xfrm>
            <a:off x="944880" y="5120640"/>
            <a:ext cx="15443635" cy="3147060"/>
          </a:xfrm>
          <a:prstGeom prst="rect">
            <a:avLst/>
          </a:prstGeom>
        </p:spPr>
      </p:pic>
      <p:pic>
        <p:nvPicPr>
          <p:cNvPr id="10" name="Picture 9">
            <a:extLst>
              <a:ext uri="{FF2B5EF4-FFF2-40B4-BE49-F238E27FC236}">
                <a16:creationId xmlns:a16="http://schemas.microsoft.com/office/drawing/2014/main" id="{F403CD8B-1757-CC0E-4771-96313F784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80" y="2247901"/>
            <a:ext cx="15443635" cy="27642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6" name="TextBox 6"/>
          <p:cNvSpPr txBox="1"/>
          <p:nvPr/>
        </p:nvSpPr>
        <p:spPr>
          <a:xfrm>
            <a:off x="819960" y="1007506"/>
            <a:ext cx="4728203" cy="613410"/>
          </a:xfrm>
          <a:prstGeom prst="rect">
            <a:avLst/>
          </a:prstGeom>
        </p:spPr>
        <p:txBody>
          <a:bodyPr lIns="0" tIns="0" rIns="0" bIns="0" rtlCol="0" anchor="t">
            <a:spAutoFit/>
          </a:bodyPr>
          <a:lstStyle/>
          <a:p>
            <a:pPr algn="ctr">
              <a:lnSpc>
                <a:spcPts val="5040"/>
              </a:lnSpc>
              <a:spcBef>
                <a:spcPct val="0"/>
              </a:spcBef>
            </a:pPr>
            <a:r>
              <a:rPr lang="en-US" sz="3600" b="1" spc="1119" dirty="0">
                <a:solidFill>
                  <a:srgbClr val="000000"/>
                </a:solidFill>
                <a:latin typeface="Sukar Bold"/>
                <a:ea typeface="Sukar Bold"/>
                <a:cs typeface="Sukar Bold"/>
                <a:sym typeface="Sukar Bold"/>
              </a:rPr>
              <a:t>PERFORMANCE </a:t>
            </a:r>
          </a:p>
        </p:txBody>
      </p:sp>
      <p:sp>
        <p:nvSpPr>
          <p:cNvPr id="7" name="TextBox 7"/>
          <p:cNvSpPr txBox="1"/>
          <p:nvPr/>
        </p:nvSpPr>
        <p:spPr>
          <a:xfrm>
            <a:off x="774240" y="1620916"/>
            <a:ext cx="13643721" cy="552450"/>
          </a:xfrm>
          <a:prstGeom prst="rect">
            <a:avLst/>
          </a:prstGeom>
        </p:spPr>
        <p:txBody>
          <a:bodyPr lIns="0" tIns="0" rIns="0" bIns="0" rtlCol="0" anchor="t">
            <a:spAutoFit/>
          </a:bodyPr>
          <a:lstStyle/>
          <a:p>
            <a:pPr marL="518160" lvl="1" indent="-259080" algn="l">
              <a:lnSpc>
                <a:spcPts val="4680"/>
              </a:lnSpc>
              <a:buFont typeface="Arial"/>
              <a:buChar char="•"/>
            </a:pPr>
            <a:r>
              <a:rPr lang="en-US" sz="2400" b="1" spc="72" dirty="0">
                <a:solidFill>
                  <a:srgbClr val="000000"/>
                </a:solidFill>
                <a:latin typeface="Coco Gothic Bold"/>
                <a:ea typeface="Coco Gothic Bold"/>
                <a:cs typeface="Coco Gothic Bold"/>
                <a:sym typeface="Coco Gothic Bold"/>
              </a:rPr>
              <a:t>8 PUZZLE</a:t>
            </a:r>
          </a:p>
        </p:txBody>
      </p:sp>
      <p:pic>
        <p:nvPicPr>
          <p:cNvPr id="3" name="Picture 2">
            <a:extLst>
              <a:ext uri="{FF2B5EF4-FFF2-40B4-BE49-F238E27FC236}">
                <a16:creationId xmlns:a16="http://schemas.microsoft.com/office/drawing/2014/main" id="{8C5A88F7-E330-89A8-6E4F-18AD26AA951A}"/>
              </a:ext>
            </a:extLst>
          </p:cNvPr>
          <p:cNvPicPr>
            <a:picLocks noChangeAspect="1"/>
          </p:cNvPicPr>
          <p:nvPr/>
        </p:nvPicPr>
        <p:blipFill>
          <a:blip r:embed="rId2">
            <a:extLst>
              <a:ext uri="{28A0092B-C50C-407E-A947-70E740481C1C}">
                <a14:useLocalDpi xmlns:a14="http://schemas.microsoft.com/office/drawing/2010/main" val="0"/>
              </a:ext>
            </a:extLst>
          </a:blip>
          <a:srcRect l="-124" b="17268"/>
          <a:stretch>
            <a:fillRect/>
          </a:stretch>
        </p:blipFill>
        <p:spPr>
          <a:xfrm>
            <a:off x="975360" y="2451362"/>
            <a:ext cx="12268200" cy="2920738"/>
          </a:xfrm>
          <a:prstGeom prst="rect">
            <a:avLst/>
          </a:prstGeom>
        </p:spPr>
      </p:pic>
      <p:pic>
        <p:nvPicPr>
          <p:cNvPr id="9" name="Picture 8">
            <a:extLst>
              <a:ext uri="{FF2B5EF4-FFF2-40B4-BE49-F238E27FC236}">
                <a16:creationId xmlns:a16="http://schemas.microsoft.com/office/drawing/2014/main" id="{9F4195AE-D84F-7CF0-4B11-24E5E25B0B54}"/>
              </a:ext>
            </a:extLst>
          </p:cNvPr>
          <p:cNvPicPr>
            <a:picLocks noChangeAspect="1"/>
          </p:cNvPicPr>
          <p:nvPr/>
        </p:nvPicPr>
        <p:blipFill>
          <a:blip r:embed="rId3">
            <a:extLst>
              <a:ext uri="{28A0092B-C50C-407E-A947-70E740481C1C}">
                <a14:useLocalDpi xmlns:a14="http://schemas.microsoft.com/office/drawing/2010/main" val="0"/>
              </a:ext>
            </a:extLst>
          </a:blip>
          <a:srcRect b="18849"/>
          <a:stretch>
            <a:fillRect/>
          </a:stretch>
        </p:blipFill>
        <p:spPr>
          <a:xfrm>
            <a:off x="975360" y="6123524"/>
            <a:ext cx="12268200" cy="25425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6" name="TextBox 6"/>
          <p:cNvSpPr txBox="1"/>
          <p:nvPr/>
        </p:nvSpPr>
        <p:spPr>
          <a:xfrm>
            <a:off x="819960" y="876300"/>
            <a:ext cx="4728203" cy="613410"/>
          </a:xfrm>
          <a:prstGeom prst="rect">
            <a:avLst/>
          </a:prstGeom>
        </p:spPr>
        <p:txBody>
          <a:bodyPr lIns="0" tIns="0" rIns="0" bIns="0" rtlCol="0" anchor="t">
            <a:spAutoFit/>
          </a:bodyPr>
          <a:lstStyle/>
          <a:p>
            <a:pPr algn="ctr">
              <a:lnSpc>
                <a:spcPts val="5040"/>
              </a:lnSpc>
              <a:spcBef>
                <a:spcPct val="0"/>
              </a:spcBef>
            </a:pPr>
            <a:r>
              <a:rPr lang="en-US" sz="3600" b="1" spc="1119" dirty="0">
                <a:solidFill>
                  <a:srgbClr val="000000"/>
                </a:solidFill>
                <a:latin typeface="Sukar Bold"/>
                <a:ea typeface="Sukar Bold"/>
                <a:cs typeface="Sukar Bold"/>
                <a:sym typeface="Sukar Bold"/>
              </a:rPr>
              <a:t>PERFORMANCE </a:t>
            </a:r>
          </a:p>
        </p:txBody>
      </p:sp>
      <p:sp>
        <p:nvSpPr>
          <p:cNvPr id="7" name="TextBox 7"/>
          <p:cNvSpPr txBox="1"/>
          <p:nvPr/>
        </p:nvSpPr>
        <p:spPr>
          <a:xfrm>
            <a:off x="819960" y="1508217"/>
            <a:ext cx="13643721" cy="552450"/>
          </a:xfrm>
          <a:prstGeom prst="rect">
            <a:avLst/>
          </a:prstGeom>
        </p:spPr>
        <p:txBody>
          <a:bodyPr lIns="0" tIns="0" rIns="0" bIns="0" rtlCol="0" anchor="t">
            <a:spAutoFit/>
          </a:bodyPr>
          <a:lstStyle/>
          <a:p>
            <a:pPr marL="518160" lvl="1" indent="-259080" algn="l">
              <a:lnSpc>
                <a:spcPts val="4680"/>
              </a:lnSpc>
              <a:buFont typeface="Arial"/>
              <a:buChar char="•"/>
            </a:pPr>
            <a:r>
              <a:rPr lang="en-US" sz="2400" b="1" spc="72" dirty="0">
                <a:solidFill>
                  <a:srgbClr val="000000"/>
                </a:solidFill>
                <a:latin typeface="Coco Gothic Bold"/>
                <a:ea typeface="Coco Gothic Bold"/>
                <a:cs typeface="Coco Gothic Bold"/>
                <a:sym typeface="Coco Gothic Bold"/>
              </a:rPr>
              <a:t>SUDOKU</a:t>
            </a:r>
          </a:p>
        </p:txBody>
      </p:sp>
      <p:pic>
        <p:nvPicPr>
          <p:cNvPr id="3" name="Picture 2">
            <a:extLst>
              <a:ext uri="{FF2B5EF4-FFF2-40B4-BE49-F238E27FC236}">
                <a16:creationId xmlns:a16="http://schemas.microsoft.com/office/drawing/2014/main" id="{0E6EB4D8-64F5-7702-C02D-CE8FA785D2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463" y="2079174"/>
            <a:ext cx="8915400" cy="77887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6" name="TextBox 6"/>
          <p:cNvSpPr txBox="1"/>
          <p:nvPr/>
        </p:nvSpPr>
        <p:spPr>
          <a:xfrm>
            <a:off x="815153" y="1311901"/>
            <a:ext cx="4728203"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PERFORMANCE </a:t>
            </a:r>
          </a:p>
        </p:txBody>
      </p:sp>
      <p:sp>
        <p:nvSpPr>
          <p:cNvPr id="7" name="TextBox 7"/>
          <p:cNvSpPr txBox="1"/>
          <p:nvPr/>
        </p:nvSpPr>
        <p:spPr>
          <a:xfrm>
            <a:off x="819960" y="2072449"/>
            <a:ext cx="13643721" cy="552450"/>
          </a:xfrm>
          <a:prstGeom prst="rect">
            <a:avLst/>
          </a:prstGeom>
        </p:spPr>
        <p:txBody>
          <a:bodyPr lIns="0" tIns="0" rIns="0" bIns="0" rtlCol="0" anchor="t">
            <a:spAutoFit/>
          </a:bodyPr>
          <a:lstStyle/>
          <a:p>
            <a:pPr marL="518160" lvl="1" indent="-259080" algn="l">
              <a:lnSpc>
                <a:spcPts val="4680"/>
              </a:lnSpc>
              <a:buFont typeface="Arial"/>
              <a:buChar char="•"/>
            </a:pPr>
            <a:r>
              <a:rPr lang="en-US" sz="2400" b="1" spc="72">
                <a:solidFill>
                  <a:srgbClr val="000000"/>
                </a:solidFill>
                <a:latin typeface="Coco Gothic Bold"/>
                <a:ea typeface="Coco Gothic Bold"/>
                <a:cs typeface="Coco Gothic Bold"/>
                <a:sym typeface="Coco Gothic Bold"/>
              </a:rPr>
              <a:t>SUDOKU</a:t>
            </a:r>
          </a:p>
        </p:txBody>
      </p:sp>
      <p:pic>
        <p:nvPicPr>
          <p:cNvPr id="3" name="Picture 2">
            <a:extLst>
              <a:ext uri="{FF2B5EF4-FFF2-40B4-BE49-F238E27FC236}">
                <a16:creationId xmlns:a16="http://schemas.microsoft.com/office/drawing/2014/main" id="{168B7F6D-651A-96ED-A8F8-D407BE0C892B}"/>
              </a:ext>
            </a:extLst>
          </p:cNvPr>
          <p:cNvPicPr>
            <a:picLocks noChangeAspect="1"/>
          </p:cNvPicPr>
          <p:nvPr/>
        </p:nvPicPr>
        <p:blipFill>
          <a:blip r:embed="rId2">
            <a:extLst>
              <a:ext uri="{28A0092B-C50C-407E-A947-70E740481C1C}">
                <a14:useLocalDpi xmlns:a14="http://schemas.microsoft.com/office/drawing/2010/main" val="0"/>
              </a:ext>
            </a:extLst>
          </a:blip>
          <a:srcRect l="-4508" b="7594"/>
          <a:stretch>
            <a:fillRect/>
          </a:stretch>
        </p:blipFill>
        <p:spPr>
          <a:xfrm>
            <a:off x="685800" y="2849852"/>
            <a:ext cx="8183881" cy="5189248"/>
          </a:xfrm>
          <a:prstGeom prst="rect">
            <a:avLst/>
          </a:prstGeom>
        </p:spPr>
      </p:pic>
      <p:pic>
        <p:nvPicPr>
          <p:cNvPr id="9" name="Picture 8">
            <a:extLst>
              <a:ext uri="{FF2B5EF4-FFF2-40B4-BE49-F238E27FC236}">
                <a16:creationId xmlns:a16="http://schemas.microsoft.com/office/drawing/2014/main" id="{D0B14D75-2434-BCB4-2CAB-878562796333}"/>
              </a:ext>
            </a:extLst>
          </p:cNvPr>
          <p:cNvPicPr>
            <a:picLocks noChangeAspect="1"/>
          </p:cNvPicPr>
          <p:nvPr/>
        </p:nvPicPr>
        <p:blipFill>
          <a:blip r:embed="rId3">
            <a:extLst>
              <a:ext uri="{28A0092B-C50C-407E-A947-70E740481C1C}">
                <a14:useLocalDpi xmlns:a14="http://schemas.microsoft.com/office/drawing/2010/main" val="0"/>
              </a:ext>
            </a:extLst>
          </a:blip>
          <a:srcRect l="1006" r="1" b="6772"/>
          <a:stretch>
            <a:fillRect/>
          </a:stretch>
        </p:blipFill>
        <p:spPr>
          <a:xfrm>
            <a:off x="9220200" y="2849853"/>
            <a:ext cx="7494745" cy="5189248"/>
          </a:xfrm>
          <a:prstGeom prst="rect">
            <a:avLst/>
          </a:prstGeom>
        </p:spPr>
      </p:pic>
      <p:sp>
        <p:nvSpPr>
          <p:cNvPr id="5" name="TextBox 4">
            <a:extLst>
              <a:ext uri="{FF2B5EF4-FFF2-40B4-BE49-F238E27FC236}">
                <a16:creationId xmlns:a16="http://schemas.microsoft.com/office/drawing/2014/main" id="{1E8C76B8-9A03-329C-72BB-15A3064D66DA}"/>
              </a:ext>
            </a:extLst>
          </p:cNvPr>
          <p:cNvSpPr txBox="1"/>
          <p:nvPr/>
        </p:nvSpPr>
        <p:spPr>
          <a:xfrm>
            <a:off x="14249400" y="8465604"/>
            <a:ext cx="4038600" cy="574901"/>
          </a:xfrm>
          <a:prstGeom prst="rect">
            <a:avLst/>
          </a:prstGeom>
          <a:noFill/>
        </p:spPr>
        <p:txBody>
          <a:bodyPr wrap="square">
            <a:spAutoFit/>
          </a:bodyPr>
          <a:lstStyle/>
          <a:p>
            <a:pPr lvl="5" indent="-165408" algn="ctr">
              <a:lnSpc>
                <a:spcPct val="150000"/>
              </a:lnSpc>
            </a:pPr>
            <a:endParaRPr lang="en-US" sz="1100" spc="100" dirty="0">
              <a:solidFill>
                <a:schemeClr val="tx2"/>
              </a:solidFill>
              <a:latin typeface="Coco Gothic"/>
              <a:ea typeface="Coco Gothic"/>
              <a:cs typeface="Coco Gothic"/>
              <a:sym typeface="Coco Gothic"/>
            </a:endParaRPr>
          </a:p>
          <a:p>
            <a:pPr lvl="5" indent="-165408" algn="ctr">
              <a:lnSpc>
                <a:spcPct val="150000"/>
              </a:lnSpc>
            </a:pPr>
            <a:endParaRPr lang="en-US" sz="1100" spc="100" dirty="0">
              <a:solidFill>
                <a:schemeClr val="tx2"/>
              </a:solidFill>
              <a:latin typeface="Coco Gothic"/>
              <a:ea typeface="Coco Gothic"/>
              <a:cs typeface="Coco Gothic"/>
              <a:sym typeface="Coco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553896" y="1311901"/>
            <a:ext cx="4124046"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CHALLENGES</a:t>
            </a:r>
          </a:p>
        </p:txBody>
      </p:sp>
      <p:sp>
        <p:nvSpPr>
          <p:cNvPr id="5" name="TextBox 5"/>
          <p:cNvSpPr txBox="1"/>
          <p:nvPr/>
        </p:nvSpPr>
        <p:spPr>
          <a:xfrm>
            <a:off x="929453" y="2910795"/>
            <a:ext cx="12451735" cy="3630168"/>
          </a:xfrm>
          <a:prstGeom prst="rect">
            <a:avLst/>
          </a:prstGeom>
        </p:spPr>
        <p:txBody>
          <a:bodyPr lIns="0" tIns="0" rIns="0" bIns="0" rtlCol="0" anchor="t">
            <a:spAutoFit/>
          </a:bodyPr>
          <a:lstStyle/>
          <a:p>
            <a:pPr marL="582930" lvl="1" indent="-291465" algn="l">
              <a:lnSpc>
                <a:spcPts val="4806"/>
              </a:lnSpc>
              <a:buFont typeface="Arial"/>
              <a:buChar char="•"/>
            </a:pPr>
            <a:r>
              <a:rPr lang="en-US" sz="2700" spc="81">
                <a:solidFill>
                  <a:srgbClr val="000000"/>
                </a:solidFill>
                <a:latin typeface="Coco Gothic"/>
                <a:ea typeface="Coco Gothic"/>
                <a:cs typeface="Coco Gothic"/>
                <a:sym typeface="Coco Gothic"/>
              </a:rPr>
              <a:t>THE PROJECT NEEDED TO SUPPORT BOTH THE 8-PUZZLE AND SUDOKU PUZZLES IN ONE CODEBASE</a:t>
            </a:r>
          </a:p>
          <a:p>
            <a:pPr marL="582930" lvl="1" indent="-291465" algn="l">
              <a:lnSpc>
                <a:spcPts val="4806"/>
              </a:lnSpc>
              <a:buFont typeface="Arial"/>
              <a:buChar char="•"/>
            </a:pPr>
            <a:r>
              <a:rPr lang="en-US" sz="2700" spc="81">
                <a:solidFill>
                  <a:srgbClr val="000000"/>
                </a:solidFill>
                <a:latin typeface="Coco Gothic"/>
                <a:ea typeface="Coco Gothic"/>
                <a:cs typeface="Coco Gothic"/>
                <a:sym typeface="Coco Gothic"/>
              </a:rPr>
              <a:t>MUST TAKE USER INPUTS AND ALLOW USERS TO SELECT AN ALGORITHM</a:t>
            </a:r>
          </a:p>
          <a:p>
            <a:pPr marL="582930" lvl="1" indent="-291465" algn="l">
              <a:lnSpc>
                <a:spcPts val="4806"/>
              </a:lnSpc>
              <a:buFont typeface="Arial"/>
              <a:buChar char="•"/>
            </a:pPr>
            <a:r>
              <a:rPr lang="en-US" sz="2700" spc="81">
                <a:solidFill>
                  <a:srgbClr val="000000"/>
                </a:solidFill>
                <a:latin typeface="Coco Gothic"/>
                <a:ea typeface="Coco Gothic"/>
                <a:cs typeface="Coco Gothic"/>
                <a:sym typeface="Coco Gothic"/>
              </a:rPr>
              <a:t>ROBUST USER INPUT HANDLING</a:t>
            </a:r>
          </a:p>
          <a:p>
            <a:pPr marL="582930" lvl="1" indent="-291465" algn="l">
              <a:lnSpc>
                <a:spcPts val="4806"/>
              </a:lnSpc>
              <a:buFont typeface="Arial"/>
              <a:buChar char="•"/>
            </a:pPr>
            <a:r>
              <a:rPr lang="en-US" sz="2700" spc="81">
                <a:solidFill>
                  <a:srgbClr val="000000"/>
                </a:solidFill>
                <a:latin typeface="Coco Gothic"/>
                <a:ea typeface="Coco Gothic"/>
                <a:cs typeface="Coco Gothic"/>
                <a:sym typeface="Coco Gothic"/>
              </a:rPr>
              <a:t>MANAGING SEARCH LIMITS IN DFS </a:t>
            </a:r>
          </a:p>
        </p:txBody>
      </p:sp>
      <p:sp>
        <p:nvSpPr>
          <p:cNvPr id="7" name="TextBox 6">
            <a:extLst>
              <a:ext uri="{FF2B5EF4-FFF2-40B4-BE49-F238E27FC236}">
                <a16:creationId xmlns:a16="http://schemas.microsoft.com/office/drawing/2014/main" id="{9FAFD576-0438-B405-7FCE-66F90749E4D5}"/>
              </a:ext>
            </a:extLst>
          </p:cNvPr>
          <p:cNvSpPr txBox="1"/>
          <p:nvPr/>
        </p:nvSpPr>
        <p:spPr>
          <a:xfrm>
            <a:off x="14249400" y="8465604"/>
            <a:ext cx="4038600" cy="574901"/>
          </a:xfrm>
          <a:prstGeom prst="rect">
            <a:avLst/>
          </a:prstGeom>
          <a:noFill/>
        </p:spPr>
        <p:txBody>
          <a:bodyPr wrap="square">
            <a:spAutoFit/>
          </a:bodyPr>
          <a:lstStyle/>
          <a:p>
            <a:pPr lvl="5" indent="-165408" algn="ctr">
              <a:lnSpc>
                <a:spcPct val="150000"/>
              </a:lnSpc>
            </a:pPr>
            <a:endParaRPr lang="en-US" sz="1100" spc="100" dirty="0">
              <a:solidFill>
                <a:schemeClr val="tx2"/>
              </a:solidFill>
              <a:latin typeface="Coco Gothic"/>
              <a:ea typeface="Coco Gothic"/>
              <a:cs typeface="Coco Gothic"/>
              <a:sym typeface="Coco Gothic"/>
            </a:endParaRPr>
          </a:p>
          <a:p>
            <a:pPr lvl="5" indent="-165408" algn="ctr">
              <a:lnSpc>
                <a:spcPct val="150000"/>
              </a:lnSpc>
            </a:pPr>
            <a:endParaRPr lang="en-US" sz="1100" spc="100" dirty="0">
              <a:solidFill>
                <a:schemeClr val="tx2"/>
              </a:solidFill>
              <a:latin typeface="Coco Gothic"/>
              <a:ea typeface="Coco Gothic"/>
              <a:cs typeface="Coco Gothic"/>
              <a:sym typeface="Coco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651867" y="1311901"/>
            <a:ext cx="3715831"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SOLUTIONS</a:t>
            </a:r>
          </a:p>
        </p:txBody>
      </p:sp>
      <p:sp>
        <p:nvSpPr>
          <p:cNvPr id="5" name="TextBox 5"/>
          <p:cNvSpPr txBox="1"/>
          <p:nvPr/>
        </p:nvSpPr>
        <p:spPr>
          <a:xfrm>
            <a:off x="651867" y="2371614"/>
            <a:ext cx="16444147" cy="6068568"/>
          </a:xfrm>
          <a:prstGeom prst="rect">
            <a:avLst/>
          </a:prstGeom>
        </p:spPr>
        <p:txBody>
          <a:bodyPr lIns="0" tIns="0" rIns="0" bIns="0" rtlCol="0" anchor="t">
            <a:spAutoFit/>
          </a:bodyPr>
          <a:lstStyle/>
          <a:p>
            <a:pPr marL="582930" lvl="1" indent="-291465" algn="l">
              <a:lnSpc>
                <a:spcPts val="4806"/>
              </a:lnSpc>
              <a:buFont typeface="Arial"/>
              <a:buChar char="•"/>
            </a:pPr>
            <a:r>
              <a:rPr lang="en-US" sz="2700" spc="81" dirty="0">
                <a:solidFill>
                  <a:srgbClr val="000000"/>
                </a:solidFill>
                <a:latin typeface="Coco Gothic"/>
                <a:ea typeface="Coco Gothic"/>
                <a:cs typeface="Coco Gothic"/>
                <a:sym typeface="Coco Gothic"/>
              </a:rPr>
              <a:t>A MODULAR DESIGN WAS ADOPTED—SEPARATING THE 8-PUZZLE AND SUDOKU FUNCTIONALITIES INTO DISTINCT MODULES</a:t>
            </a:r>
          </a:p>
          <a:p>
            <a:pPr marL="582930" lvl="1" indent="-291465" algn="l">
              <a:lnSpc>
                <a:spcPts val="4806"/>
              </a:lnSpc>
              <a:buFont typeface="Arial"/>
              <a:buChar char="•"/>
            </a:pPr>
            <a:r>
              <a:rPr lang="en-US" sz="2700" spc="81" dirty="0">
                <a:solidFill>
                  <a:srgbClr val="000000"/>
                </a:solidFill>
                <a:latin typeface="Coco Gothic"/>
                <a:ea typeface="Coco Gothic"/>
                <a:cs typeface="Coco Gothic"/>
                <a:sym typeface="Coco Gothic"/>
              </a:rPr>
              <a:t>THREE SEARCH ALGORITHMS WERE IMPLEMENTED TO SOLVE THE 8-PUZZLE, AND TWO OTHER ALGORITHMS WERE IMPLEMENTED TO SOLVE THE SUDOKU</a:t>
            </a:r>
          </a:p>
          <a:p>
            <a:pPr marL="582930" lvl="1" indent="-291465" algn="l">
              <a:lnSpc>
                <a:spcPts val="4806"/>
              </a:lnSpc>
              <a:buFont typeface="Arial"/>
              <a:buChar char="•"/>
            </a:pPr>
            <a:r>
              <a:rPr lang="en-US" sz="2700" spc="81" dirty="0">
                <a:solidFill>
                  <a:srgbClr val="000000"/>
                </a:solidFill>
                <a:latin typeface="Coco Gothic"/>
                <a:ea typeface="Coco Gothic"/>
                <a:cs typeface="Coco Gothic"/>
                <a:sym typeface="Coco Gothic"/>
              </a:rPr>
              <a:t>TIME FUNCTIONS AND COUNTERS WERE INTEGRATED FOR THE USER TO COMPARE PERFORMANCES</a:t>
            </a:r>
          </a:p>
          <a:p>
            <a:pPr marL="582930" lvl="1" indent="-291465" algn="l">
              <a:lnSpc>
                <a:spcPts val="4806"/>
              </a:lnSpc>
              <a:buFont typeface="Arial"/>
              <a:buChar char="•"/>
            </a:pPr>
            <a:r>
              <a:rPr lang="en-US" sz="2700" spc="81" dirty="0">
                <a:solidFill>
                  <a:srgbClr val="000000"/>
                </a:solidFill>
                <a:latin typeface="Coco Gothic"/>
                <a:ea typeface="Coco Gothic"/>
                <a:cs typeface="Coco Gothic"/>
                <a:sym typeface="Coco Gothic"/>
              </a:rPr>
              <a:t>TRY-EXCEPT BLOCKS AND VALIDATION LOGIC ENSURED THAT THE USER PROVIDED THE EXPECTED DATA FORMAT</a:t>
            </a:r>
          </a:p>
          <a:p>
            <a:pPr marL="582930" lvl="1" indent="-291465" algn="l">
              <a:lnSpc>
                <a:spcPts val="4806"/>
              </a:lnSpc>
              <a:buFont typeface="Arial"/>
              <a:buChar char="•"/>
            </a:pPr>
            <a:r>
              <a:rPr lang="en-US" sz="2700" spc="81" dirty="0">
                <a:solidFill>
                  <a:srgbClr val="000000"/>
                </a:solidFill>
                <a:latin typeface="Coco Gothic"/>
                <a:ea typeface="Coco Gothic"/>
                <a:cs typeface="Coco Gothic"/>
                <a:sym typeface="Coco Gothic"/>
              </a:rPr>
              <a:t>ERROR MESSAGES WERE PROVIDED WHEN THE INPUT WAS INVALID, ALLOWING THE USER TO RETRY.</a:t>
            </a:r>
          </a:p>
        </p:txBody>
      </p:sp>
      <p:sp>
        <p:nvSpPr>
          <p:cNvPr id="3" name="TextBox 2">
            <a:extLst>
              <a:ext uri="{FF2B5EF4-FFF2-40B4-BE49-F238E27FC236}">
                <a16:creationId xmlns:a16="http://schemas.microsoft.com/office/drawing/2014/main" id="{3765A6C6-4B3C-27FE-4C4B-F236408D2DF1}"/>
              </a:ext>
            </a:extLst>
          </p:cNvPr>
          <p:cNvSpPr txBox="1"/>
          <p:nvPr/>
        </p:nvSpPr>
        <p:spPr>
          <a:xfrm>
            <a:off x="14249400" y="8602949"/>
            <a:ext cx="4038600" cy="310598"/>
          </a:xfrm>
          <a:prstGeom prst="rect">
            <a:avLst/>
          </a:prstGeom>
          <a:noFill/>
        </p:spPr>
        <p:txBody>
          <a:bodyPr wrap="square">
            <a:spAutoFit/>
          </a:bodyPr>
          <a:lstStyle/>
          <a:p>
            <a:pPr lvl="5" indent="-165408" algn="ctr">
              <a:lnSpc>
                <a:spcPct val="150000"/>
              </a:lnSpc>
            </a:pPr>
            <a:endParaRPr lang="en-US" sz="1050" spc="100" dirty="0">
              <a:solidFill>
                <a:schemeClr val="tx2"/>
              </a:solidFill>
              <a:latin typeface="Coco Gothic"/>
              <a:ea typeface="Coco Gothic"/>
              <a:cs typeface="Coco Gothic"/>
              <a:sym typeface="Coco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4" name="TextBox 4"/>
          <p:cNvSpPr txBox="1"/>
          <p:nvPr/>
        </p:nvSpPr>
        <p:spPr>
          <a:xfrm>
            <a:off x="668196" y="1311901"/>
            <a:ext cx="4124046" cy="613410"/>
          </a:xfrm>
          <a:prstGeom prst="rect">
            <a:avLst/>
          </a:prstGeom>
        </p:spPr>
        <p:txBody>
          <a:bodyPr lIns="0" tIns="0" rIns="0" bIns="0" rtlCol="0" anchor="t">
            <a:spAutoFit/>
          </a:bodyPr>
          <a:lstStyle/>
          <a:p>
            <a:pPr algn="ctr">
              <a:lnSpc>
                <a:spcPts val="5040"/>
              </a:lnSpc>
              <a:spcBef>
                <a:spcPct val="0"/>
              </a:spcBef>
            </a:pPr>
            <a:r>
              <a:rPr lang="en-US" sz="3600" b="1" spc="1119">
                <a:solidFill>
                  <a:srgbClr val="000000"/>
                </a:solidFill>
                <a:latin typeface="Sukar Bold"/>
                <a:ea typeface="Sukar Bold"/>
                <a:cs typeface="Sukar Bold"/>
                <a:sym typeface="Sukar Bold"/>
              </a:rPr>
              <a:t>CONCLUSION</a:t>
            </a:r>
          </a:p>
        </p:txBody>
      </p:sp>
      <p:sp>
        <p:nvSpPr>
          <p:cNvPr id="5" name="TextBox 5"/>
          <p:cNvSpPr txBox="1"/>
          <p:nvPr/>
        </p:nvSpPr>
        <p:spPr>
          <a:xfrm>
            <a:off x="2400881" y="2947416"/>
            <a:ext cx="12810963" cy="5489964"/>
          </a:xfrm>
          <a:prstGeom prst="rect">
            <a:avLst/>
          </a:prstGeom>
        </p:spPr>
        <p:txBody>
          <a:bodyPr lIns="0" tIns="0" rIns="0" bIns="0" rtlCol="0" anchor="t">
            <a:spAutoFit/>
          </a:bodyPr>
          <a:lstStyle/>
          <a:p>
            <a:pPr algn="l">
              <a:lnSpc>
                <a:spcPts val="4806"/>
              </a:lnSpc>
            </a:pPr>
            <a:r>
              <a:rPr lang="en-US" sz="2700" spc="81" dirty="0">
                <a:solidFill>
                  <a:srgbClr val="000000"/>
                </a:solidFill>
                <a:latin typeface="Sukar"/>
                <a:ea typeface="Sukar"/>
                <a:cs typeface="Sukar"/>
                <a:sym typeface="Sukar"/>
              </a:rPr>
              <a:t>WE SUCCESSFULLY DEVELOPED A PUZZLE SOLVER THAT IS CAPABLE OF TACKLING BOTH THE 8-PUZZLE AND SUDOKU CHALLENGES. BY IMPLEMENTING A VARIETY OF ALGORITHMS AND HEURISTICS, WE PROVIDED USERS WITH FLEXIBLE AND EFFICIENT SOLUTIONS. THE MODULAR DESIGN ENSURES THAT THE CODE IS EASY TO MAINTAIN AND EXPAND IN THE FUTURE. THIS PROJECT NOT ONLY ACHIEVED ITS OBJECTIVES BUT ALSO ESTABLISHED A STRONG FOUNDATION FOR FURTHER EXPLORATION OF PUZZLE-SOLVING ALGORITHMS AND THEIR APPLICATIONS</a:t>
            </a:r>
          </a:p>
          <a:p>
            <a:pPr algn="l">
              <a:lnSpc>
                <a:spcPts val="4806"/>
              </a:lnSpc>
            </a:pPr>
            <a:endParaRPr lang="en-US" sz="2700" spc="81" dirty="0">
              <a:solidFill>
                <a:srgbClr val="000000"/>
              </a:solidFill>
              <a:latin typeface="Sukar"/>
              <a:ea typeface="Sukar"/>
              <a:cs typeface="Sukar"/>
              <a:sym typeface="Sukar"/>
            </a:endParaRPr>
          </a:p>
          <a:p>
            <a:pPr algn="ctr">
              <a:lnSpc>
                <a:spcPts val="4806"/>
              </a:lnSpc>
            </a:pPr>
            <a:r>
              <a:rPr lang="en-US" sz="2700" spc="81" dirty="0">
                <a:solidFill>
                  <a:srgbClr val="000000"/>
                </a:solidFill>
                <a:latin typeface="Sukar"/>
                <a:ea typeface="Sukar"/>
                <a:cs typeface="Sukar"/>
                <a:sym typeface="Sukar"/>
              </a:rPr>
              <a:t>Thank You</a:t>
            </a:r>
          </a:p>
        </p:txBody>
      </p:sp>
      <p:sp>
        <p:nvSpPr>
          <p:cNvPr id="10" name="TextBox 9">
            <a:extLst>
              <a:ext uri="{FF2B5EF4-FFF2-40B4-BE49-F238E27FC236}">
                <a16:creationId xmlns:a16="http://schemas.microsoft.com/office/drawing/2014/main" id="{16D40E1C-BE93-69A7-6A0A-8F2E54CD8F19}"/>
              </a:ext>
            </a:extLst>
          </p:cNvPr>
          <p:cNvSpPr txBox="1"/>
          <p:nvPr/>
        </p:nvSpPr>
        <p:spPr>
          <a:xfrm>
            <a:off x="14249400" y="8465604"/>
            <a:ext cx="4038600" cy="574901"/>
          </a:xfrm>
          <a:prstGeom prst="rect">
            <a:avLst/>
          </a:prstGeom>
          <a:noFill/>
        </p:spPr>
        <p:txBody>
          <a:bodyPr wrap="square">
            <a:spAutoFit/>
          </a:bodyPr>
          <a:lstStyle/>
          <a:p>
            <a:pPr lvl="5" indent="-165408" algn="ctr">
              <a:lnSpc>
                <a:spcPct val="150000"/>
              </a:lnSpc>
            </a:pPr>
            <a:endParaRPr lang="en-US" sz="1100" spc="100" dirty="0">
              <a:solidFill>
                <a:schemeClr val="tx2"/>
              </a:solidFill>
              <a:latin typeface="Coco Gothic"/>
              <a:ea typeface="Coco Gothic"/>
              <a:cs typeface="Coco Gothic"/>
              <a:sym typeface="Coco Gothic"/>
            </a:endParaRPr>
          </a:p>
          <a:p>
            <a:pPr lvl="5" indent="-165408" algn="ctr">
              <a:lnSpc>
                <a:spcPct val="150000"/>
              </a:lnSpc>
            </a:pPr>
            <a:endParaRPr lang="en-US" sz="1100" spc="100" dirty="0">
              <a:solidFill>
                <a:schemeClr val="tx2"/>
              </a:solidFill>
              <a:latin typeface="Coco Gothic"/>
              <a:ea typeface="Coco Gothic"/>
              <a:cs typeface="Coco Gothic"/>
              <a:sym typeface="Coco Gothic"/>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158</TotalTime>
  <Words>466</Words>
  <Application>Microsoft Office PowerPoint</Application>
  <PresentationFormat>Custom</PresentationFormat>
  <Paragraphs>65</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Coco Gothic Bold</vt:lpstr>
      <vt:lpstr>Arial</vt:lpstr>
      <vt:lpstr>Sukar Bold</vt:lpstr>
      <vt:lpstr>Wingdings</vt:lpstr>
      <vt:lpstr>Sukar</vt:lpstr>
      <vt:lpstr>Century Gothic</vt:lpstr>
      <vt:lpstr>Coco Gothic</vt:lpstr>
      <vt:lpstr>Wingdings 3</vt:lpstr>
      <vt:lpstr>Coco Gothic Italics</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Puzzle Solver with Customized Heuristics for Informed Searches</dc:title>
  <cp:lastModifiedBy>TASHRIQ JAHAN ILHAN</cp:lastModifiedBy>
  <cp:revision>14</cp:revision>
  <dcterms:created xsi:type="dcterms:W3CDTF">2006-08-16T00:00:00Z</dcterms:created>
  <dcterms:modified xsi:type="dcterms:W3CDTF">2025-12-13T14:59:58Z</dcterms:modified>
  <dc:identifier>DAGgBtVzBJQ</dc:identifier>
</cp:coreProperties>
</file>